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3"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9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21792" y="713232"/>
            <a:ext cx="10972800" cy="1323439"/>
          </a:xfrm>
          <a:prstGeom prst="rect">
            <a:avLst/>
          </a:prstGeom>
          <a:noFill/>
        </p:spPr>
        <p:txBody>
          <a:bodyPr wrap="square" anchor="t">
            <a:spAutoFit/>
          </a:bodyPr>
          <a:lstStyle/>
          <a:p>
            <a:pPr algn="l"/>
            <a:r>
              <a:rPr lang="en-IN" sz="4000" b="1" dirty="0">
                <a:solidFill>
                  <a:srgbClr val="1F2631"/>
                </a:solidFill>
                <a:latin typeface="Aptos"/>
              </a:rPr>
              <a:t>Problem - </a:t>
            </a:r>
            <a:r>
              <a:rPr sz="4000" b="1" dirty="0">
                <a:solidFill>
                  <a:srgbClr val="1F2631"/>
                </a:solidFill>
                <a:latin typeface="Aptos"/>
              </a:rPr>
              <a:t>Premises verification </a:t>
            </a:r>
            <a:r>
              <a:rPr lang="en-IN" sz="4000" b="1" dirty="0">
                <a:solidFill>
                  <a:srgbClr val="1F2631"/>
                </a:solidFill>
                <a:latin typeface="Aptos"/>
              </a:rPr>
              <a:t>without human intervention.</a:t>
            </a:r>
            <a:endParaRPr sz="4000" b="1" dirty="0">
              <a:solidFill>
                <a:srgbClr val="1F2631"/>
              </a:solidFill>
              <a:latin typeface="Aptos"/>
            </a:endParaRPr>
          </a:p>
        </p:txBody>
      </p:sp>
      <p:sp>
        <p:nvSpPr>
          <p:cNvPr id="27" name="Rounded Rectangle 26"/>
          <p:cNvSpPr/>
          <p:nvPr/>
        </p:nvSpPr>
        <p:spPr>
          <a:xfrm>
            <a:off x="821871" y="2177142"/>
            <a:ext cx="5074920" cy="3967626"/>
          </a:xfrm>
          <a:prstGeom prst="roundRect">
            <a:avLst/>
          </a:prstGeom>
          <a:solidFill>
            <a:srgbClr val="FFFFFF"/>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Arial Narrow" panose="020B0606020202030204" pitchFamily="34" charset="0"/>
            </a:endParaRPr>
          </a:p>
        </p:txBody>
      </p:sp>
      <p:sp>
        <p:nvSpPr>
          <p:cNvPr id="28" name="Rectangle 27"/>
          <p:cNvSpPr/>
          <p:nvPr/>
        </p:nvSpPr>
        <p:spPr>
          <a:xfrm>
            <a:off x="739575" y="2177141"/>
            <a:ext cx="68580" cy="4049488"/>
          </a:xfrm>
          <a:prstGeom prst="rect">
            <a:avLst/>
          </a:prstGeom>
          <a:solidFill>
            <a:srgbClr val="2F5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59031" y="2543240"/>
            <a:ext cx="4800600" cy="369332"/>
          </a:xfrm>
          <a:prstGeom prst="rect">
            <a:avLst/>
          </a:prstGeom>
          <a:noFill/>
        </p:spPr>
        <p:txBody>
          <a:bodyPr wrap="square" anchor="t">
            <a:spAutoFit/>
          </a:bodyPr>
          <a:lstStyle/>
          <a:p>
            <a:pPr algn="l"/>
            <a:r>
              <a:rPr b="1" dirty="0">
                <a:solidFill>
                  <a:srgbClr val="1F2631"/>
                </a:solidFill>
                <a:latin typeface="Aptos"/>
              </a:rPr>
              <a:t>My product hypothesis</a:t>
            </a:r>
          </a:p>
        </p:txBody>
      </p:sp>
      <p:sp>
        <p:nvSpPr>
          <p:cNvPr id="30" name="TextBox 29"/>
          <p:cNvSpPr txBox="1"/>
          <p:nvPr/>
        </p:nvSpPr>
        <p:spPr>
          <a:xfrm>
            <a:off x="959031" y="3109542"/>
            <a:ext cx="4800600" cy="2677656"/>
          </a:xfrm>
          <a:prstGeom prst="rect">
            <a:avLst/>
          </a:prstGeom>
          <a:noFill/>
        </p:spPr>
        <p:txBody>
          <a:bodyPr wrap="square" anchor="t">
            <a:spAutoFit/>
          </a:bodyPr>
          <a:lstStyle/>
          <a:p>
            <a:r>
              <a:rPr lang="en-US" sz="1400" dirty="0">
                <a:solidFill>
                  <a:srgbClr val="272F3D"/>
                </a:solidFill>
                <a:latin typeface="Aptos Display" panose="020B0004020202020204" pitchFamily="34" charset="0"/>
              </a:rPr>
              <a:t>Today the customer may be asked to provide premises evidence through an assisted, fragmented process. Guidance varies, evidence can be incomplete or unusable, and credit teams may need to chase and re-request it. This can be frustrating for legitimate customers and time consuming for the verification team.
To reduce customer drop-offs and ensure smooth verification process, the product must help a genuine customer complete verification independently while increasing confidence that evidence is current, relevant and captured at the declared premises.</a:t>
            </a:r>
          </a:p>
        </p:txBody>
      </p:sp>
      <p:sp>
        <p:nvSpPr>
          <p:cNvPr id="31" name="Rounded Rectangle 30"/>
          <p:cNvSpPr/>
          <p:nvPr/>
        </p:nvSpPr>
        <p:spPr>
          <a:xfrm>
            <a:off x="6519672" y="2177140"/>
            <a:ext cx="5074920" cy="3967627"/>
          </a:xfrm>
          <a:prstGeom prst="roundRect">
            <a:avLst/>
          </a:prstGeom>
          <a:solidFill>
            <a:srgbClr val="EBF5EE"/>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highlight>
                <a:srgbClr val="00FF00"/>
              </a:highlight>
            </a:endParaRPr>
          </a:p>
        </p:txBody>
      </p:sp>
      <p:sp>
        <p:nvSpPr>
          <p:cNvPr id="32" name="Rectangle 31"/>
          <p:cNvSpPr/>
          <p:nvPr/>
        </p:nvSpPr>
        <p:spPr>
          <a:xfrm>
            <a:off x="6416802" y="2177141"/>
            <a:ext cx="68580" cy="3967625"/>
          </a:xfrm>
          <a:prstGeom prst="rect">
            <a:avLst/>
          </a:prstGeom>
          <a:solidFill>
            <a:srgbClr val="347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675120" y="2543240"/>
            <a:ext cx="4800600" cy="369332"/>
          </a:xfrm>
          <a:prstGeom prst="rect">
            <a:avLst/>
          </a:prstGeom>
          <a:noFill/>
        </p:spPr>
        <p:txBody>
          <a:bodyPr wrap="square" anchor="t">
            <a:spAutoFit/>
          </a:bodyPr>
          <a:lstStyle/>
          <a:p>
            <a:r>
              <a:rPr lang="en-IN" b="1" dirty="0">
                <a:solidFill>
                  <a:srgbClr val="1F2631"/>
                </a:solidFill>
                <a:latin typeface="Aptos"/>
              </a:rPr>
              <a:t>Main Objectives to mitigate the issue</a:t>
            </a:r>
          </a:p>
        </p:txBody>
      </p:sp>
      <p:sp>
        <p:nvSpPr>
          <p:cNvPr id="34" name="TextBox 33"/>
          <p:cNvSpPr txBox="1"/>
          <p:nvPr/>
        </p:nvSpPr>
        <p:spPr>
          <a:xfrm>
            <a:off x="6704838" y="3189841"/>
            <a:ext cx="4800600" cy="2677656"/>
          </a:xfrm>
          <a:prstGeom prst="rect">
            <a:avLst/>
          </a:prstGeom>
          <a:noFill/>
        </p:spPr>
        <p:txBody>
          <a:bodyPr wrap="square" anchor="t">
            <a:spAutoFit/>
          </a:bodyPr>
          <a:lstStyle/>
          <a:p>
            <a:r>
              <a:rPr lang="en-US" sz="1400" dirty="0">
                <a:solidFill>
                  <a:srgbClr val="272F3D"/>
                </a:solidFill>
                <a:latin typeface="Aptos Display" panose="020B0004020202020204" pitchFamily="34" charset="0"/>
              </a:rPr>
              <a:t>1. Improving customer completion by making the task fast and unambiguous.</a:t>
            </a:r>
          </a:p>
          <a:p>
            <a:r>
              <a:rPr lang="en-US" sz="1400" dirty="0">
                <a:solidFill>
                  <a:srgbClr val="272F3D"/>
                </a:solidFill>
                <a:latin typeface="Aptos Display" panose="020B0004020202020204" pitchFamily="34" charset="0"/>
              </a:rPr>
              <a:t>2. Ensure evidence is current, relevant to the declared premises, and clear enough for the intended use</a:t>
            </a:r>
          </a:p>
          <a:p>
            <a:r>
              <a:rPr lang="en-US" sz="1400" dirty="0">
                <a:solidFill>
                  <a:srgbClr val="272F3D"/>
                </a:solidFill>
                <a:latin typeface="Aptos Display" panose="020B0004020202020204" pitchFamily="34" charset="0"/>
              </a:rPr>
              <a:t>3. Handle common errors during the process to avoid unnecessary, time-consuming manual work.</a:t>
            </a:r>
          </a:p>
          <a:p>
            <a:r>
              <a:rPr lang="en-US" sz="1400" dirty="0">
                <a:solidFill>
                  <a:srgbClr val="272F3D"/>
                </a:solidFill>
                <a:latin typeface="Aptos Display" panose="020B0004020202020204" pitchFamily="34" charset="0"/>
              </a:rPr>
              <a:t>4. Common real-world conditions should be handled by the system itself.</a:t>
            </a:r>
          </a:p>
          <a:p>
            <a:r>
              <a:rPr lang="en-US" sz="1400" dirty="0">
                <a:solidFill>
                  <a:srgbClr val="272F3D"/>
                </a:solidFill>
                <a:latin typeface="Aptos Display" panose="020B0004020202020204" pitchFamily="34" charset="0"/>
              </a:rPr>
              <a:t>5. Protect privacy and dignity by collecting only what is necessary, explain the value exchange, and avoid unfairly excluding</a:t>
            </a:r>
          </a:p>
          <a:p>
            <a:r>
              <a:rPr lang="en-US" sz="1400" dirty="0">
                <a:solidFill>
                  <a:srgbClr val="272F3D"/>
                </a:solidFill>
                <a:latin typeface="Aptos Display" panose="020B0004020202020204" pitchFamily="34" charset="0"/>
              </a:rPr>
              <a:t>legitimate customers.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21792" y="713232"/>
            <a:ext cx="10972800" cy="707886"/>
          </a:xfrm>
          <a:prstGeom prst="rect">
            <a:avLst/>
          </a:prstGeom>
          <a:noFill/>
        </p:spPr>
        <p:txBody>
          <a:bodyPr wrap="square" anchor="t">
            <a:spAutoFit/>
          </a:bodyPr>
          <a:lstStyle/>
          <a:p>
            <a:pPr algn="l"/>
            <a:r>
              <a:rPr lang="en-IN" sz="4000" b="1" dirty="0">
                <a:solidFill>
                  <a:srgbClr val="1F2631"/>
                </a:solidFill>
                <a:latin typeface="Aptos"/>
              </a:rPr>
              <a:t>Top personas and their journeys</a:t>
            </a:r>
            <a:endParaRPr sz="4000" b="1" dirty="0">
              <a:solidFill>
                <a:srgbClr val="1F2631"/>
              </a:solidFill>
              <a:latin typeface="Aptos"/>
            </a:endParaRPr>
          </a:p>
        </p:txBody>
      </p:sp>
      <p:sp>
        <p:nvSpPr>
          <p:cNvPr id="12" name="TextBox 11"/>
          <p:cNvSpPr txBox="1"/>
          <p:nvPr/>
        </p:nvSpPr>
        <p:spPr>
          <a:xfrm>
            <a:off x="4690872" y="2020824"/>
            <a:ext cx="2596896" cy="182880"/>
          </a:xfrm>
          <a:prstGeom prst="rect">
            <a:avLst/>
          </a:prstGeom>
          <a:noFill/>
        </p:spPr>
        <p:txBody>
          <a:bodyPr wrap="square" anchor="t">
            <a:spAutoFit/>
          </a:bodyPr>
          <a:lstStyle/>
          <a:p>
            <a:pPr algn="l"/>
            <a:r>
              <a:rPr sz="950" b="1" dirty="0">
                <a:solidFill>
                  <a:srgbClr val="FFFFFF"/>
                </a:solidFill>
                <a:latin typeface="Aptos"/>
              </a:rPr>
              <a:t>What they care about</a:t>
            </a:r>
          </a:p>
        </p:txBody>
      </p:sp>
      <p:sp>
        <p:nvSpPr>
          <p:cNvPr id="14" name="TextBox 13"/>
          <p:cNvSpPr txBox="1"/>
          <p:nvPr/>
        </p:nvSpPr>
        <p:spPr>
          <a:xfrm>
            <a:off x="7525512" y="2020824"/>
            <a:ext cx="2825496" cy="182880"/>
          </a:xfrm>
          <a:prstGeom prst="rect">
            <a:avLst/>
          </a:prstGeom>
          <a:noFill/>
        </p:spPr>
        <p:txBody>
          <a:bodyPr wrap="square" anchor="t">
            <a:spAutoFit/>
          </a:bodyPr>
          <a:lstStyle/>
          <a:p>
            <a:pPr algn="l"/>
            <a:r>
              <a:rPr sz="950" b="1" dirty="0">
                <a:solidFill>
                  <a:srgbClr val="FFFFFF"/>
                </a:solidFill>
                <a:latin typeface="Aptos"/>
              </a:rPr>
              <a:t>Evidence focus</a:t>
            </a:r>
          </a:p>
        </p:txBody>
      </p:sp>
      <p:graphicFrame>
        <p:nvGraphicFramePr>
          <p:cNvPr id="62" name="Table 61">
            <a:extLst>
              <a:ext uri="{FF2B5EF4-FFF2-40B4-BE49-F238E27FC236}">
                <a16:creationId xmlns:a16="http://schemas.microsoft.com/office/drawing/2014/main" id="{05B330D9-EDDF-7466-F6E2-116E69A826A8}"/>
              </a:ext>
            </a:extLst>
          </p:cNvPr>
          <p:cNvGraphicFramePr>
            <a:graphicFrameLocks noGrp="1"/>
          </p:cNvGraphicFramePr>
          <p:nvPr>
            <p:extLst>
              <p:ext uri="{D42A27DB-BD31-4B8C-83A1-F6EECF244321}">
                <p14:modId xmlns:p14="http://schemas.microsoft.com/office/powerpoint/2010/main" val="3785097357"/>
              </p:ext>
            </p:extLst>
          </p:nvPr>
        </p:nvGraphicFramePr>
        <p:xfrm>
          <a:off x="705032" y="1645364"/>
          <a:ext cx="10889560" cy="4394200"/>
        </p:xfrm>
        <a:graphic>
          <a:graphicData uri="http://schemas.openxmlformats.org/drawingml/2006/table">
            <a:tbl>
              <a:tblPr firstRow="1" bandRow="1">
                <a:tableStyleId>{B301B821-A1FF-4177-AEE7-76D212191A09}</a:tableStyleId>
              </a:tblPr>
              <a:tblGrid>
                <a:gridCol w="2722390">
                  <a:extLst>
                    <a:ext uri="{9D8B030D-6E8A-4147-A177-3AD203B41FA5}">
                      <a16:colId xmlns:a16="http://schemas.microsoft.com/office/drawing/2014/main" val="4131665162"/>
                    </a:ext>
                  </a:extLst>
                </a:gridCol>
                <a:gridCol w="2722390">
                  <a:extLst>
                    <a:ext uri="{9D8B030D-6E8A-4147-A177-3AD203B41FA5}">
                      <a16:colId xmlns:a16="http://schemas.microsoft.com/office/drawing/2014/main" val="3721623063"/>
                    </a:ext>
                  </a:extLst>
                </a:gridCol>
                <a:gridCol w="2722390">
                  <a:extLst>
                    <a:ext uri="{9D8B030D-6E8A-4147-A177-3AD203B41FA5}">
                      <a16:colId xmlns:a16="http://schemas.microsoft.com/office/drawing/2014/main" val="200151586"/>
                    </a:ext>
                  </a:extLst>
                </a:gridCol>
                <a:gridCol w="2722390">
                  <a:extLst>
                    <a:ext uri="{9D8B030D-6E8A-4147-A177-3AD203B41FA5}">
                      <a16:colId xmlns:a16="http://schemas.microsoft.com/office/drawing/2014/main" val="2737427505"/>
                    </a:ext>
                  </a:extLst>
                </a:gridCol>
              </a:tblGrid>
              <a:tr h="370840">
                <a:tc>
                  <a:txBody>
                    <a:bodyPr/>
                    <a:lstStyle/>
                    <a:p>
                      <a:r>
                        <a:rPr lang="en-IN" sz="1800" b="1" dirty="0">
                          <a:solidFill>
                            <a:srgbClr val="FFFFFF"/>
                          </a:solidFill>
                        </a:rPr>
                        <a:t>Persona</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1" dirty="0">
                          <a:solidFill>
                            <a:srgbClr val="FFFFFF"/>
                          </a:solidFill>
                        </a:rPr>
                        <a:t>Declared premises</a:t>
                      </a:r>
                      <a:endParaRPr lang="en-IN" sz="1800" b="1" dirty="0">
                        <a:solidFill>
                          <a:srgbClr val="FFFFFF"/>
                        </a:solidFill>
                        <a:latin typeface="Aptos"/>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1" dirty="0">
                          <a:solidFill>
                            <a:srgbClr val="FFFFFF"/>
                          </a:solidFill>
                        </a:rPr>
                        <a:t>What they care about</a:t>
                      </a:r>
                      <a:endParaRPr lang="en-IN" sz="1800" b="1" dirty="0">
                        <a:solidFill>
                          <a:srgbClr val="FFFFFF"/>
                        </a:solidFill>
                        <a:latin typeface="Aptos"/>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1" dirty="0">
                          <a:solidFill>
                            <a:srgbClr val="FFFFFF"/>
                          </a:solidFill>
                        </a:rPr>
                        <a:t>Evidence focus</a:t>
                      </a:r>
                      <a:endParaRPr lang="en-IN" sz="1800" b="1" dirty="0">
                        <a:solidFill>
                          <a:srgbClr val="FFFFFF"/>
                        </a:solidFill>
                        <a:latin typeface="Aptos"/>
                      </a:endParaRPr>
                    </a:p>
                  </a:txBody>
                  <a:tcPr/>
                </a:tc>
                <a:extLst>
                  <a:ext uri="{0D108BD9-81ED-4DB2-BD59-A6C34878D82A}">
                    <a16:rowId xmlns:a16="http://schemas.microsoft.com/office/drawing/2014/main" val="1332449943"/>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dirty="0">
                          <a:solidFill>
                            <a:srgbClr val="1F2631"/>
                          </a:solidFill>
                        </a:rPr>
                        <a:t>Salaried</a:t>
                      </a: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dirty="0">
                          <a:solidFill>
                            <a:srgbClr val="1F2631"/>
                          </a:solidFill>
                        </a:rPr>
                        <a:t>Home</a:t>
                      </a: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dirty="0">
                          <a:solidFill>
                            <a:srgbClr val="1F2631"/>
                          </a:solidFill>
                        </a:rPr>
                        <a:t>Fast, low effort</a:t>
                      </a: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dirty="0">
                          <a:solidFill>
                            <a:srgbClr val="1F2631"/>
                          </a:solidFill>
                        </a:rPr>
                        <a:t>Entrance + relevant interior</a:t>
                      </a:r>
                    </a:p>
                    <a:p>
                      <a:endParaRPr lang="en-IN" dirty="0"/>
                    </a:p>
                  </a:txBody>
                  <a:tcPr/>
                </a:tc>
                <a:extLst>
                  <a:ext uri="{0D108BD9-81ED-4DB2-BD59-A6C34878D82A}">
                    <a16:rowId xmlns:a16="http://schemas.microsoft.com/office/drawing/2014/main" val="1251800005"/>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dirty="0">
                          <a:solidFill>
                            <a:srgbClr val="1F2631"/>
                          </a:solidFill>
                        </a:rPr>
                        <a:t>Work-from-home</a:t>
                      </a: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dirty="0">
                          <a:solidFill>
                            <a:srgbClr val="1F2631"/>
                          </a:solidFill>
                        </a:rPr>
                        <a:t>Home + work area</a:t>
                      </a: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dirty="0">
                          <a:solidFill>
                            <a:srgbClr val="1F2631"/>
                          </a:solidFill>
                        </a:rPr>
                        <a:t>Privacy, relevance</a:t>
                      </a: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dirty="0">
                          <a:solidFill>
                            <a:srgbClr val="1F2631"/>
                          </a:solidFill>
                        </a:rPr>
                        <a:t>Entrance + work area only</a:t>
                      </a:r>
                    </a:p>
                    <a:p>
                      <a:endParaRPr lang="en-IN" dirty="0"/>
                    </a:p>
                  </a:txBody>
                  <a:tcPr/>
                </a:tc>
                <a:extLst>
                  <a:ext uri="{0D108BD9-81ED-4DB2-BD59-A6C34878D82A}">
                    <a16:rowId xmlns:a16="http://schemas.microsoft.com/office/drawing/2014/main" val="3492487525"/>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dirty="0">
                          <a:solidFill>
                            <a:srgbClr val="1F2631"/>
                          </a:solidFill>
                        </a:rPr>
                        <a:t>Self-employed</a:t>
                      </a: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dirty="0">
                          <a:solidFill>
                            <a:srgbClr val="1F2631"/>
                          </a:solidFill>
                        </a:rPr>
                        <a:t>Shop / office</a:t>
                      </a: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dirty="0">
                          <a:solidFill>
                            <a:srgbClr val="1F2631"/>
                          </a:solidFill>
                        </a:rPr>
                        <a:t>Business is genuine</a:t>
                      </a: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dirty="0">
                          <a:solidFill>
                            <a:srgbClr val="1F2631"/>
                          </a:solidFill>
                        </a:rPr>
                        <a:t>Entrance / signage + setup</a:t>
                      </a:r>
                    </a:p>
                    <a:p>
                      <a:endParaRPr lang="en-IN" dirty="0"/>
                    </a:p>
                  </a:txBody>
                  <a:tcPr/>
                </a:tc>
                <a:extLst>
                  <a:ext uri="{0D108BD9-81ED-4DB2-BD59-A6C34878D82A}">
                    <a16:rowId xmlns:a16="http://schemas.microsoft.com/office/drawing/2014/main" val="172185195"/>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dirty="0">
                          <a:solidFill>
                            <a:srgbClr val="1F2631"/>
                          </a:solidFill>
                        </a:rPr>
                        <a:t>Rented home</a:t>
                      </a: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dirty="0">
                          <a:solidFill>
                            <a:srgbClr val="1F2631"/>
                          </a:solidFill>
                        </a:rPr>
                        <a:t>Rented residence</a:t>
                      </a: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dirty="0">
                          <a:solidFill>
                            <a:srgbClr val="1F2631"/>
                          </a:solidFill>
                        </a:rPr>
                        <a:t>May not own the place</a:t>
                      </a: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dirty="0">
                          <a:solidFill>
                            <a:srgbClr val="1F2631"/>
                          </a:solidFill>
                        </a:rPr>
                        <a:t>Premises access, not ownership</a:t>
                      </a:r>
                    </a:p>
                    <a:p>
                      <a:endParaRPr lang="en-IN" dirty="0"/>
                    </a:p>
                  </a:txBody>
                  <a:tcPr/>
                </a:tc>
                <a:extLst>
                  <a:ext uri="{0D108BD9-81ED-4DB2-BD59-A6C34878D82A}">
                    <a16:rowId xmlns:a16="http://schemas.microsoft.com/office/drawing/2014/main" val="322321867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dirty="0">
                          <a:solidFill>
                            <a:srgbClr val="1F2631"/>
                          </a:solidFill>
                        </a:rPr>
                        <a:t>Shared / family home</a:t>
                      </a: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dirty="0">
                          <a:solidFill>
                            <a:srgbClr val="1F2631"/>
                          </a:solidFill>
                        </a:rPr>
                        <a:t>Home</a:t>
                      </a: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dirty="0">
                          <a:solidFill>
                            <a:srgbClr val="1F2631"/>
                          </a:solidFill>
                        </a:rPr>
                        <a:t>Address may be shared</a:t>
                      </a: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dirty="0">
                          <a:solidFill>
                            <a:srgbClr val="1F2631"/>
                          </a:solidFill>
                        </a:rPr>
                        <a:t>Declared premises, without over-collecting</a:t>
                      </a:r>
                    </a:p>
                    <a:p>
                      <a:endParaRPr lang="en-IN" dirty="0"/>
                    </a:p>
                  </a:txBody>
                  <a:tcPr/>
                </a:tc>
                <a:extLst>
                  <a:ext uri="{0D108BD9-81ED-4DB2-BD59-A6C34878D82A}">
                    <a16:rowId xmlns:a16="http://schemas.microsoft.com/office/drawing/2014/main" val="393055491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21792" y="713232"/>
            <a:ext cx="10972800" cy="707886"/>
          </a:xfrm>
          <a:prstGeom prst="rect">
            <a:avLst/>
          </a:prstGeom>
          <a:noFill/>
        </p:spPr>
        <p:txBody>
          <a:bodyPr wrap="square" anchor="t">
            <a:spAutoFit/>
          </a:bodyPr>
          <a:lstStyle/>
          <a:p>
            <a:pPr algn="l"/>
            <a:r>
              <a:rPr lang="en-IN" sz="4000" b="1" dirty="0">
                <a:solidFill>
                  <a:srgbClr val="1F2631"/>
                </a:solidFill>
                <a:latin typeface="Aptos"/>
              </a:rPr>
              <a:t>A clear flow with camera feature prototype</a:t>
            </a:r>
            <a:endParaRPr sz="4000" b="1" dirty="0">
              <a:solidFill>
                <a:srgbClr val="1F2631"/>
              </a:solidFill>
              <a:latin typeface="Aptos"/>
            </a:endParaRPr>
          </a:p>
        </p:txBody>
      </p:sp>
      <p:sp>
        <p:nvSpPr>
          <p:cNvPr id="7" name="Rounded Rectangle 6"/>
          <p:cNvSpPr/>
          <p:nvPr/>
        </p:nvSpPr>
        <p:spPr>
          <a:xfrm>
            <a:off x="621792" y="1549134"/>
            <a:ext cx="1508760" cy="1495818"/>
          </a:xfrm>
          <a:prstGeom prst="roundRect">
            <a:avLst/>
          </a:prstGeom>
          <a:solidFill>
            <a:srgbClr val="FFFFFF"/>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9163" y="1676031"/>
            <a:ext cx="932688" cy="276999"/>
          </a:xfrm>
          <a:prstGeom prst="rect">
            <a:avLst/>
          </a:prstGeom>
          <a:noFill/>
        </p:spPr>
        <p:txBody>
          <a:bodyPr wrap="square" anchor="t">
            <a:spAutoFit/>
          </a:bodyPr>
          <a:lstStyle/>
          <a:p>
            <a:pPr algn="l"/>
            <a:r>
              <a:rPr sz="1200" b="1" dirty="0">
                <a:solidFill>
                  <a:srgbClr val="1F2631"/>
                </a:solidFill>
                <a:latin typeface="Aptos"/>
              </a:rPr>
              <a:t>Explain</a:t>
            </a:r>
          </a:p>
        </p:txBody>
      </p:sp>
      <p:cxnSp>
        <p:nvCxnSpPr>
          <p:cNvPr id="11" name="Connector 10"/>
          <p:cNvCxnSpPr/>
          <p:nvPr/>
        </p:nvCxnSpPr>
        <p:spPr>
          <a:xfrm>
            <a:off x="2130552" y="2505456"/>
            <a:ext cx="292608" cy="0"/>
          </a:xfrm>
          <a:prstGeom prst="line">
            <a:avLst/>
          </a:prstGeom>
          <a:ln w="21590">
            <a:solidFill>
              <a:srgbClr val="2F5BA6"/>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496312" y="1549134"/>
            <a:ext cx="1508760" cy="1495818"/>
          </a:xfrm>
          <a:prstGeom prst="roundRect">
            <a:avLst/>
          </a:prstGeom>
          <a:solidFill>
            <a:srgbClr val="FFFFFF"/>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08946" y="1659267"/>
            <a:ext cx="932688" cy="276999"/>
          </a:xfrm>
          <a:prstGeom prst="rect">
            <a:avLst/>
          </a:prstGeom>
          <a:noFill/>
        </p:spPr>
        <p:txBody>
          <a:bodyPr wrap="square" anchor="t">
            <a:spAutoFit/>
          </a:bodyPr>
          <a:lstStyle/>
          <a:p>
            <a:pPr algn="l"/>
            <a:r>
              <a:rPr sz="1200" b="1" dirty="0">
                <a:solidFill>
                  <a:srgbClr val="1F2631"/>
                </a:solidFill>
                <a:latin typeface="Aptos"/>
              </a:rPr>
              <a:t>Prepare</a:t>
            </a:r>
          </a:p>
        </p:txBody>
      </p:sp>
      <p:cxnSp>
        <p:nvCxnSpPr>
          <p:cNvPr id="16" name="Connector 15"/>
          <p:cNvCxnSpPr/>
          <p:nvPr/>
        </p:nvCxnSpPr>
        <p:spPr>
          <a:xfrm>
            <a:off x="4005072" y="2505456"/>
            <a:ext cx="292608" cy="0"/>
          </a:xfrm>
          <a:prstGeom prst="line">
            <a:avLst/>
          </a:prstGeom>
          <a:ln w="21590">
            <a:solidFill>
              <a:srgbClr val="2F5BA6"/>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370831" y="1549134"/>
            <a:ext cx="1508760" cy="1495818"/>
          </a:xfrm>
          <a:prstGeom prst="roundRect">
            <a:avLst/>
          </a:prstGeom>
          <a:solidFill>
            <a:srgbClr val="FFFFFF"/>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63439" y="1651459"/>
            <a:ext cx="932688" cy="276999"/>
          </a:xfrm>
          <a:prstGeom prst="rect">
            <a:avLst/>
          </a:prstGeom>
          <a:noFill/>
        </p:spPr>
        <p:txBody>
          <a:bodyPr wrap="square" anchor="t">
            <a:spAutoFit/>
          </a:bodyPr>
          <a:lstStyle/>
          <a:p>
            <a:pPr algn="l"/>
            <a:r>
              <a:rPr sz="1200" b="1" dirty="0">
                <a:solidFill>
                  <a:srgbClr val="1F2631"/>
                </a:solidFill>
                <a:latin typeface="Aptos"/>
              </a:rPr>
              <a:t>Capture</a:t>
            </a:r>
          </a:p>
        </p:txBody>
      </p:sp>
      <p:cxnSp>
        <p:nvCxnSpPr>
          <p:cNvPr id="21" name="Connector 20"/>
          <p:cNvCxnSpPr/>
          <p:nvPr/>
        </p:nvCxnSpPr>
        <p:spPr>
          <a:xfrm>
            <a:off x="5879592" y="2505456"/>
            <a:ext cx="292607" cy="0"/>
          </a:xfrm>
          <a:prstGeom prst="line">
            <a:avLst/>
          </a:prstGeom>
          <a:ln w="21590">
            <a:solidFill>
              <a:srgbClr val="2F5BA6"/>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45351" y="1549134"/>
            <a:ext cx="1508760" cy="1495818"/>
          </a:xfrm>
          <a:prstGeom prst="roundRect">
            <a:avLst/>
          </a:prstGeom>
          <a:solidFill>
            <a:srgbClr val="FFFFFF"/>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37238" y="1686287"/>
            <a:ext cx="932688" cy="276999"/>
          </a:xfrm>
          <a:prstGeom prst="rect">
            <a:avLst/>
          </a:prstGeom>
          <a:noFill/>
        </p:spPr>
        <p:txBody>
          <a:bodyPr wrap="square" anchor="t">
            <a:spAutoFit/>
          </a:bodyPr>
          <a:lstStyle/>
          <a:p>
            <a:pPr algn="l"/>
            <a:r>
              <a:rPr sz="1200" b="1" dirty="0">
                <a:solidFill>
                  <a:srgbClr val="1F2631"/>
                </a:solidFill>
                <a:latin typeface="Aptos"/>
              </a:rPr>
              <a:t>Check</a:t>
            </a:r>
          </a:p>
        </p:txBody>
      </p:sp>
      <p:cxnSp>
        <p:nvCxnSpPr>
          <p:cNvPr id="26" name="Connector 25"/>
          <p:cNvCxnSpPr/>
          <p:nvPr/>
        </p:nvCxnSpPr>
        <p:spPr>
          <a:xfrm>
            <a:off x="7754111" y="2505456"/>
            <a:ext cx="292608" cy="0"/>
          </a:xfrm>
          <a:prstGeom prst="line">
            <a:avLst/>
          </a:prstGeom>
          <a:ln w="21590">
            <a:solidFill>
              <a:srgbClr val="2F5BA6"/>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119871" y="1549134"/>
            <a:ext cx="1508760" cy="1495818"/>
          </a:xfrm>
          <a:prstGeom prst="roundRect">
            <a:avLst/>
          </a:prstGeom>
          <a:solidFill>
            <a:srgbClr val="FFFFFF"/>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531352" y="1676031"/>
            <a:ext cx="932688" cy="276999"/>
          </a:xfrm>
          <a:prstGeom prst="rect">
            <a:avLst/>
          </a:prstGeom>
          <a:noFill/>
        </p:spPr>
        <p:txBody>
          <a:bodyPr wrap="square" anchor="t">
            <a:spAutoFit/>
          </a:bodyPr>
          <a:lstStyle/>
          <a:p>
            <a:pPr algn="l"/>
            <a:r>
              <a:rPr sz="1200" b="1" dirty="0">
                <a:solidFill>
                  <a:srgbClr val="1F2631"/>
                </a:solidFill>
                <a:latin typeface="Aptos"/>
              </a:rPr>
              <a:t>Review</a:t>
            </a:r>
          </a:p>
        </p:txBody>
      </p:sp>
      <p:cxnSp>
        <p:nvCxnSpPr>
          <p:cNvPr id="31" name="Connector 30"/>
          <p:cNvCxnSpPr/>
          <p:nvPr/>
        </p:nvCxnSpPr>
        <p:spPr>
          <a:xfrm>
            <a:off x="9628632" y="2505456"/>
            <a:ext cx="292608" cy="0"/>
          </a:xfrm>
          <a:prstGeom prst="line">
            <a:avLst/>
          </a:prstGeom>
          <a:ln w="21590">
            <a:solidFill>
              <a:srgbClr val="2F5BA6"/>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994392" y="1549134"/>
            <a:ext cx="1508760" cy="1495818"/>
          </a:xfrm>
          <a:prstGeom prst="roundRect">
            <a:avLst/>
          </a:prstGeom>
          <a:solidFill>
            <a:srgbClr val="FFFFFF"/>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387584" y="1674288"/>
            <a:ext cx="932688" cy="276999"/>
          </a:xfrm>
          <a:prstGeom prst="rect">
            <a:avLst/>
          </a:prstGeom>
          <a:noFill/>
        </p:spPr>
        <p:txBody>
          <a:bodyPr wrap="square" anchor="t">
            <a:spAutoFit/>
          </a:bodyPr>
          <a:lstStyle/>
          <a:p>
            <a:pPr algn="l"/>
            <a:r>
              <a:rPr sz="1200" b="1" dirty="0">
                <a:solidFill>
                  <a:srgbClr val="1F2631"/>
                </a:solidFill>
                <a:latin typeface="Aptos"/>
              </a:rPr>
              <a:t>Submit</a:t>
            </a:r>
          </a:p>
        </p:txBody>
      </p:sp>
      <p:sp>
        <p:nvSpPr>
          <p:cNvPr id="36" name="Rounded Rectangle 35"/>
          <p:cNvSpPr/>
          <p:nvPr/>
        </p:nvSpPr>
        <p:spPr>
          <a:xfrm>
            <a:off x="822960" y="3429000"/>
            <a:ext cx="2057400" cy="3337560"/>
          </a:xfrm>
          <a:prstGeom prst="roundRect">
            <a:avLst/>
          </a:prstGeom>
          <a:solidFill>
            <a:srgbClr val="FFFFFF"/>
          </a:solidFill>
          <a:ln w="19050">
            <a:solidFill>
              <a:srgbClr val="1F26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60120" y="3593592"/>
            <a:ext cx="1783080" cy="256032"/>
          </a:xfrm>
          <a:prstGeom prst="rect">
            <a:avLst/>
          </a:prstGeom>
          <a:noFill/>
        </p:spPr>
        <p:txBody>
          <a:bodyPr wrap="square" anchor="t">
            <a:spAutoFit/>
          </a:bodyPr>
          <a:lstStyle/>
          <a:p>
            <a:pPr algn="ctr"/>
            <a:r>
              <a:rPr sz="1100" b="1">
                <a:solidFill>
                  <a:srgbClr val="1F2631"/>
                </a:solidFill>
                <a:latin typeface="Aptos"/>
              </a:rPr>
              <a:t>Step 1 of 3</a:t>
            </a:r>
          </a:p>
        </p:txBody>
      </p:sp>
      <p:sp>
        <p:nvSpPr>
          <p:cNvPr id="38" name="Rectangle 37"/>
          <p:cNvSpPr/>
          <p:nvPr/>
        </p:nvSpPr>
        <p:spPr>
          <a:xfrm>
            <a:off x="1005840" y="4087368"/>
            <a:ext cx="1691640" cy="1481328"/>
          </a:xfrm>
          <a:prstGeom prst="rect">
            <a:avLst/>
          </a:prstGeom>
          <a:solidFill>
            <a:srgbClr val="E4E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115568" y="4544568"/>
            <a:ext cx="1463040" cy="292608"/>
          </a:xfrm>
          <a:prstGeom prst="rect">
            <a:avLst/>
          </a:prstGeom>
          <a:noFill/>
        </p:spPr>
        <p:txBody>
          <a:bodyPr wrap="square" anchor="t">
            <a:spAutoFit/>
          </a:bodyPr>
          <a:lstStyle/>
          <a:p>
            <a:pPr algn="ctr"/>
            <a:r>
              <a:rPr sz="1100" b="1">
                <a:solidFill>
                  <a:srgbClr val="1F2631"/>
                </a:solidFill>
                <a:latin typeface="Aptos"/>
              </a:rPr>
              <a:t>Show your
entrance</a:t>
            </a:r>
          </a:p>
        </p:txBody>
      </p:sp>
      <p:sp>
        <p:nvSpPr>
          <p:cNvPr id="40" name="Rounded Rectangle 39"/>
          <p:cNvSpPr/>
          <p:nvPr/>
        </p:nvSpPr>
        <p:spPr>
          <a:xfrm>
            <a:off x="1042416" y="5696712"/>
            <a:ext cx="1627632" cy="310896"/>
          </a:xfrm>
          <a:prstGeom prst="roundRect">
            <a:avLst/>
          </a:prstGeom>
          <a:solidFill>
            <a:srgbClr val="EB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42416" y="5737860"/>
            <a:ext cx="1627632" cy="182880"/>
          </a:xfrm>
          <a:prstGeom prst="rect">
            <a:avLst/>
          </a:prstGeom>
          <a:noFill/>
        </p:spPr>
        <p:txBody>
          <a:bodyPr wrap="square" anchor="t">
            <a:spAutoFit/>
          </a:bodyPr>
          <a:lstStyle/>
          <a:p>
            <a:pPr algn="ctr"/>
            <a:r>
              <a:rPr sz="919" b="1">
                <a:solidFill>
                  <a:srgbClr val="34754F"/>
                </a:solidFill>
                <a:latin typeface="Aptos"/>
              </a:rPr>
              <a:t>✓ Looks good</a:t>
            </a:r>
          </a:p>
        </p:txBody>
      </p:sp>
      <p:sp>
        <p:nvSpPr>
          <p:cNvPr id="42" name="Rounded Rectangle 41"/>
          <p:cNvSpPr/>
          <p:nvPr/>
        </p:nvSpPr>
        <p:spPr>
          <a:xfrm>
            <a:off x="1097280" y="6217920"/>
            <a:ext cx="1508760" cy="365760"/>
          </a:xfrm>
          <a:prstGeom prst="roundRect">
            <a:avLst/>
          </a:prstGeom>
          <a:solidFill>
            <a:srgbClr val="2F5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97280" y="6291072"/>
            <a:ext cx="1508760" cy="182880"/>
          </a:xfrm>
          <a:prstGeom prst="rect">
            <a:avLst/>
          </a:prstGeom>
          <a:noFill/>
        </p:spPr>
        <p:txBody>
          <a:bodyPr wrap="square" anchor="t">
            <a:spAutoFit/>
          </a:bodyPr>
          <a:lstStyle/>
          <a:p>
            <a:pPr algn="ctr"/>
            <a:r>
              <a:rPr sz="950" b="1">
                <a:solidFill>
                  <a:srgbClr val="FFFFFF"/>
                </a:solidFill>
                <a:latin typeface="Aptos"/>
              </a:rPr>
              <a:t>Capture</a:t>
            </a:r>
          </a:p>
        </p:txBody>
      </p:sp>
      <p:sp>
        <p:nvSpPr>
          <p:cNvPr id="44" name="Rounded Rectangle 43"/>
          <p:cNvSpPr/>
          <p:nvPr/>
        </p:nvSpPr>
        <p:spPr>
          <a:xfrm>
            <a:off x="3337560" y="3429000"/>
            <a:ext cx="2057400" cy="3337560"/>
          </a:xfrm>
          <a:prstGeom prst="roundRect">
            <a:avLst/>
          </a:prstGeom>
          <a:solidFill>
            <a:srgbClr val="FFFFFF"/>
          </a:solidFill>
          <a:ln w="19050">
            <a:solidFill>
              <a:srgbClr val="1F26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474720" y="3593592"/>
            <a:ext cx="1783080" cy="256032"/>
          </a:xfrm>
          <a:prstGeom prst="rect">
            <a:avLst/>
          </a:prstGeom>
          <a:noFill/>
        </p:spPr>
        <p:txBody>
          <a:bodyPr wrap="square" anchor="t">
            <a:spAutoFit/>
          </a:bodyPr>
          <a:lstStyle/>
          <a:p>
            <a:pPr algn="ctr"/>
            <a:r>
              <a:rPr sz="1100" b="1">
                <a:solidFill>
                  <a:srgbClr val="1F2631"/>
                </a:solidFill>
                <a:latin typeface="Aptos"/>
              </a:rPr>
              <a:t>Step 2 of 3</a:t>
            </a:r>
          </a:p>
        </p:txBody>
      </p:sp>
      <p:sp>
        <p:nvSpPr>
          <p:cNvPr id="46" name="Rectangle 45"/>
          <p:cNvSpPr/>
          <p:nvPr/>
        </p:nvSpPr>
        <p:spPr>
          <a:xfrm>
            <a:off x="3520440" y="4087368"/>
            <a:ext cx="1691640" cy="1481328"/>
          </a:xfrm>
          <a:prstGeom prst="rect">
            <a:avLst/>
          </a:prstGeom>
          <a:solidFill>
            <a:srgbClr val="E4E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30168" y="4544568"/>
            <a:ext cx="1463040" cy="292608"/>
          </a:xfrm>
          <a:prstGeom prst="rect">
            <a:avLst/>
          </a:prstGeom>
          <a:noFill/>
        </p:spPr>
        <p:txBody>
          <a:bodyPr wrap="square" anchor="t">
            <a:spAutoFit/>
          </a:bodyPr>
          <a:lstStyle/>
          <a:p>
            <a:pPr algn="ctr"/>
            <a:r>
              <a:rPr sz="1100" b="1">
                <a:solidFill>
                  <a:srgbClr val="1F2631"/>
                </a:solidFill>
                <a:latin typeface="Aptos"/>
              </a:rPr>
              <a:t>Move closer</a:t>
            </a:r>
          </a:p>
        </p:txBody>
      </p:sp>
      <p:sp>
        <p:nvSpPr>
          <p:cNvPr id="48" name="Rounded Rectangle 47"/>
          <p:cNvSpPr/>
          <p:nvPr/>
        </p:nvSpPr>
        <p:spPr>
          <a:xfrm>
            <a:off x="3557015" y="5696712"/>
            <a:ext cx="1627632" cy="310896"/>
          </a:xfrm>
          <a:prstGeom prst="roundRect">
            <a:avLst/>
          </a:prstGeom>
          <a:solidFill>
            <a:srgbClr val="FA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557015" y="5737860"/>
            <a:ext cx="1627632" cy="182880"/>
          </a:xfrm>
          <a:prstGeom prst="rect">
            <a:avLst/>
          </a:prstGeom>
          <a:noFill/>
        </p:spPr>
        <p:txBody>
          <a:bodyPr wrap="square" anchor="t">
            <a:spAutoFit/>
          </a:bodyPr>
          <a:lstStyle/>
          <a:p>
            <a:pPr algn="ctr"/>
            <a:r>
              <a:rPr sz="919" b="1">
                <a:solidFill>
                  <a:srgbClr val="BF7E26"/>
                </a:solidFill>
                <a:latin typeface="Aptos"/>
              </a:rPr>
              <a:t>Too far away</a:t>
            </a:r>
          </a:p>
        </p:txBody>
      </p:sp>
      <p:sp>
        <p:nvSpPr>
          <p:cNvPr id="50" name="Rounded Rectangle 49"/>
          <p:cNvSpPr/>
          <p:nvPr/>
        </p:nvSpPr>
        <p:spPr>
          <a:xfrm>
            <a:off x="3611879" y="6217920"/>
            <a:ext cx="1508760" cy="365760"/>
          </a:xfrm>
          <a:prstGeom prst="roundRect">
            <a:avLst/>
          </a:prstGeom>
          <a:solidFill>
            <a:srgbClr val="BF7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611879" y="6291072"/>
            <a:ext cx="1508760" cy="182880"/>
          </a:xfrm>
          <a:prstGeom prst="rect">
            <a:avLst/>
          </a:prstGeom>
          <a:noFill/>
        </p:spPr>
        <p:txBody>
          <a:bodyPr wrap="square" anchor="t">
            <a:spAutoFit/>
          </a:bodyPr>
          <a:lstStyle/>
          <a:p>
            <a:pPr algn="ctr"/>
            <a:r>
              <a:rPr sz="950" b="1">
                <a:solidFill>
                  <a:srgbClr val="FFFFFF"/>
                </a:solidFill>
                <a:latin typeface="Aptos"/>
              </a:rPr>
              <a:t>Try again</a:t>
            </a:r>
          </a:p>
        </p:txBody>
      </p:sp>
      <p:sp>
        <p:nvSpPr>
          <p:cNvPr id="52" name="Rounded Rectangle 51"/>
          <p:cNvSpPr/>
          <p:nvPr/>
        </p:nvSpPr>
        <p:spPr>
          <a:xfrm>
            <a:off x="5852160" y="3429000"/>
            <a:ext cx="2057400" cy="3337560"/>
          </a:xfrm>
          <a:prstGeom prst="roundRect">
            <a:avLst/>
          </a:prstGeom>
          <a:solidFill>
            <a:srgbClr val="FFFFFF"/>
          </a:solidFill>
          <a:ln w="19050">
            <a:solidFill>
              <a:srgbClr val="1F26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89320" y="3593592"/>
            <a:ext cx="1783080" cy="256032"/>
          </a:xfrm>
          <a:prstGeom prst="rect">
            <a:avLst/>
          </a:prstGeom>
          <a:noFill/>
        </p:spPr>
        <p:txBody>
          <a:bodyPr wrap="square" anchor="t">
            <a:spAutoFit/>
          </a:bodyPr>
          <a:lstStyle/>
          <a:p>
            <a:pPr algn="ctr"/>
            <a:r>
              <a:rPr sz="1100" b="1">
                <a:solidFill>
                  <a:srgbClr val="1F2631"/>
                </a:solidFill>
                <a:latin typeface="Aptos"/>
              </a:rPr>
              <a:t>Step 2 of 3</a:t>
            </a:r>
          </a:p>
        </p:txBody>
      </p:sp>
      <p:sp>
        <p:nvSpPr>
          <p:cNvPr id="54" name="Rectangle 53"/>
          <p:cNvSpPr/>
          <p:nvPr/>
        </p:nvSpPr>
        <p:spPr>
          <a:xfrm>
            <a:off x="6035040" y="4087368"/>
            <a:ext cx="1691640" cy="1481328"/>
          </a:xfrm>
          <a:prstGeom prst="rect">
            <a:avLst/>
          </a:prstGeom>
          <a:solidFill>
            <a:srgbClr val="E4E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144768" y="4544568"/>
            <a:ext cx="1463040" cy="292608"/>
          </a:xfrm>
          <a:prstGeom prst="rect">
            <a:avLst/>
          </a:prstGeom>
          <a:noFill/>
        </p:spPr>
        <p:txBody>
          <a:bodyPr wrap="square" anchor="t">
            <a:spAutoFit/>
          </a:bodyPr>
          <a:lstStyle/>
          <a:p>
            <a:pPr algn="ctr"/>
            <a:r>
              <a:rPr sz="1100" b="1">
                <a:solidFill>
                  <a:srgbClr val="1F2631"/>
                </a:solidFill>
                <a:latin typeface="Aptos"/>
              </a:rPr>
              <a:t>Entrance
captured</a:t>
            </a:r>
          </a:p>
        </p:txBody>
      </p:sp>
      <p:sp>
        <p:nvSpPr>
          <p:cNvPr id="56" name="Rounded Rectangle 55"/>
          <p:cNvSpPr/>
          <p:nvPr/>
        </p:nvSpPr>
        <p:spPr>
          <a:xfrm>
            <a:off x="6071616" y="5696712"/>
            <a:ext cx="1627632" cy="310896"/>
          </a:xfrm>
          <a:prstGeom prst="roundRect">
            <a:avLst/>
          </a:prstGeom>
          <a:solidFill>
            <a:srgbClr val="EB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071616" y="5737860"/>
            <a:ext cx="1627632" cy="182880"/>
          </a:xfrm>
          <a:prstGeom prst="rect">
            <a:avLst/>
          </a:prstGeom>
          <a:noFill/>
        </p:spPr>
        <p:txBody>
          <a:bodyPr wrap="square" anchor="t">
            <a:spAutoFit/>
          </a:bodyPr>
          <a:lstStyle/>
          <a:p>
            <a:pPr algn="ctr"/>
            <a:r>
              <a:rPr sz="919" b="1">
                <a:solidFill>
                  <a:srgbClr val="34754F"/>
                </a:solidFill>
                <a:latin typeface="Aptos"/>
              </a:rPr>
              <a:t>✓ Looks good</a:t>
            </a:r>
          </a:p>
        </p:txBody>
      </p:sp>
      <p:sp>
        <p:nvSpPr>
          <p:cNvPr id="58" name="Rounded Rectangle 57"/>
          <p:cNvSpPr/>
          <p:nvPr/>
        </p:nvSpPr>
        <p:spPr>
          <a:xfrm>
            <a:off x="6126480" y="6217920"/>
            <a:ext cx="1508760" cy="365760"/>
          </a:xfrm>
          <a:prstGeom prst="roundRect">
            <a:avLst/>
          </a:prstGeom>
          <a:solidFill>
            <a:srgbClr val="347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126480" y="6291072"/>
            <a:ext cx="1508760" cy="182880"/>
          </a:xfrm>
          <a:prstGeom prst="rect">
            <a:avLst/>
          </a:prstGeom>
          <a:noFill/>
        </p:spPr>
        <p:txBody>
          <a:bodyPr wrap="square" anchor="t">
            <a:spAutoFit/>
          </a:bodyPr>
          <a:lstStyle/>
          <a:p>
            <a:pPr algn="ctr"/>
            <a:r>
              <a:rPr sz="950" b="1">
                <a:solidFill>
                  <a:srgbClr val="FFFFFF"/>
                </a:solidFill>
                <a:latin typeface="Aptos"/>
              </a:rPr>
              <a:t>Continue</a:t>
            </a:r>
          </a:p>
        </p:txBody>
      </p:sp>
      <p:sp>
        <p:nvSpPr>
          <p:cNvPr id="60" name="Rounded Rectangle 59"/>
          <p:cNvSpPr/>
          <p:nvPr/>
        </p:nvSpPr>
        <p:spPr>
          <a:xfrm>
            <a:off x="8366760" y="3428999"/>
            <a:ext cx="3063240" cy="3044951"/>
          </a:xfrm>
          <a:prstGeom prst="roundRect">
            <a:avLst/>
          </a:prstGeom>
          <a:solidFill>
            <a:srgbClr val="FFFFFF"/>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flipH="1">
            <a:off x="8321040" y="3429000"/>
            <a:ext cx="45720" cy="3044950"/>
          </a:xfrm>
          <a:prstGeom prst="rect">
            <a:avLst/>
          </a:prstGeom>
          <a:solidFill>
            <a:srgbClr val="2F5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531352" y="3557016"/>
            <a:ext cx="2788920" cy="292608"/>
          </a:xfrm>
          <a:prstGeom prst="rect">
            <a:avLst/>
          </a:prstGeom>
          <a:noFill/>
        </p:spPr>
        <p:txBody>
          <a:bodyPr wrap="square" anchor="t">
            <a:spAutoFit/>
          </a:bodyPr>
          <a:lstStyle/>
          <a:p>
            <a:pPr algn="l"/>
            <a:r>
              <a:rPr sz="1350" b="1">
                <a:solidFill>
                  <a:srgbClr val="1F2631"/>
                </a:solidFill>
                <a:latin typeface="Aptos"/>
              </a:rPr>
              <a:t>What is happening?</a:t>
            </a:r>
          </a:p>
        </p:txBody>
      </p:sp>
      <p:sp>
        <p:nvSpPr>
          <p:cNvPr id="63" name="TextBox 62"/>
          <p:cNvSpPr txBox="1"/>
          <p:nvPr/>
        </p:nvSpPr>
        <p:spPr>
          <a:xfrm>
            <a:off x="8531352" y="3922776"/>
            <a:ext cx="2788920" cy="2292935"/>
          </a:xfrm>
          <a:prstGeom prst="rect">
            <a:avLst/>
          </a:prstGeom>
          <a:noFill/>
        </p:spPr>
        <p:txBody>
          <a:bodyPr wrap="square" anchor="t">
            <a:spAutoFit/>
          </a:bodyPr>
          <a:lstStyle/>
          <a:p>
            <a:r>
              <a:rPr lang="en-US" sz="1300" dirty="0">
                <a:solidFill>
                  <a:srgbClr val="1F2631"/>
                </a:solidFill>
                <a:latin typeface="Aptos"/>
              </a:rPr>
              <a:t>A simple frame/overlay tells the customer what should be visible. The app gives one instruction at a time instead of a long checklist. </a:t>
            </a:r>
            <a:r>
              <a:rPr sz="1300" b="0" dirty="0">
                <a:solidFill>
                  <a:srgbClr val="1F2631"/>
                </a:solidFill>
                <a:latin typeface="Aptos"/>
              </a:rPr>
              <a:t>
</a:t>
            </a:r>
            <a:r>
              <a:rPr lang="en-US" sz="1300" dirty="0">
                <a:solidFill>
                  <a:srgbClr val="1F2631"/>
                </a:solidFill>
                <a:latin typeface="Aptos"/>
              </a:rPr>
              <a:t> The customer fixes the issue before moving on. No later re-request. </a:t>
            </a:r>
            <a:r>
              <a:rPr sz="1300" b="0" dirty="0">
                <a:solidFill>
                  <a:srgbClr val="1F2631"/>
                </a:solidFill>
                <a:latin typeface="Aptos"/>
              </a:rPr>
              <a:t>
</a:t>
            </a:r>
            <a:r>
              <a:rPr lang="en-US" sz="1300" dirty="0">
                <a:solidFill>
                  <a:srgbClr val="1F2631"/>
                </a:solidFill>
                <a:latin typeface="Aptos"/>
              </a:rPr>
              <a:t>
A final review makes it obvious that the customer has done everything required before they tap Submit.</a:t>
            </a:r>
            <a:endParaRPr sz="1300" b="0" dirty="0">
              <a:solidFill>
                <a:srgbClr val="1F2631"/>
              </a:solidFill>
              <a:latin typeface="Aptos"/>
            </a:endParaRPr>
          </a:p>
        </p:txBody>
      </p:sp>
      <p:sp>
        <p:nvSpPr>
          <p:cNvPr id="79" name="TextBox 78">
            <a:extLst>
              <a:ext uri="{FF2B5EF4-FFF2-40B4-BE49-F238E27FC236}">
                <a16:creationId xmlns:a16="http://schemas.microsoft.com/office/drawing/2014/main" id="{16800A39-0789-81F4-A942-0CF5D50AFCD1}"/>
              </a:ext>
            </a:extLst>
          </p:cNvPr>
          <p:cNvSpPr txBox="1"/>
          <p:nvPr/>
        </p:nvSpPr>
        <p:spPr>
          <a:xfrm>
            <a:off x="777022" y="1942241"/>
            <a:ext cx="1353312" cy="1015663"/>
          </a:xfrm>
          <a:prstGeom prst="rect">
            <a:avLst/>
          </a:prstGeom>
          <a:noFill/>
        </p:spPr>
        <p:txBody>
          <a:bodyPr wrap="square" anchor="t">
            <a:spAutoFit/>
          </a:bodyPr>
          <a:lstStyle/>
          <a:p>
            <a:pPr algn="l"/>
            <a:r>
              <a:rPr sz="1200" b="0" dirty="0">
                <a:solidFill>
                  <a:srgbClr val="525B69"/>
                </a:solidFill>
                <a:latin typeface="Aptos"/>
              </a:rPr>
              <a:t>“This takes ~2 minutes. We’ll capture your entrance and one relevant area.”</a:t>
            </a:r>
          </a:p>
        </p:txBody>
      </p:sp>
      <p:sp>
        <p:nvSpPr>
          <p:cNvPr id="81" name="TextBox 80">
            <a:extLst>
              <a:ext uri="{FF2B5EF4-FFF2-40B4-BE49-F238E27FC236}">
                <a16:creationId xmlns:a16="http://schemas.microsoft.com/office/drawing/2014/main" id="{E9C8788A-3F41-A70B-A8DD-DB26C5B6260C}"/>
              </a:ext>
            </a:extLst>
          </p:cNvPr>
          <p:cNvSpPr txBox="1"/>
          <p:nvPr/>
        </p:nvSpPr>
        <p:spPr>
          <a:xfrm>
            <a:off x="2621584" y="1899530"/>
            <a:ext cx="1353312" cy="1015663"/>
          </a:xfrm>
          <a:prstGeom prst="rect">
            <a:avLst/>
          </a:prstGeom>
          <a:noFill/>
        </p:spPr>
        <p:txBody>
          <a:bodyPr wrap="square" anchor="t">
            <a:spAutoFit/>
          </a:bodyPr>
          <a:lstStyle/>
          <a:p>
            <a:pPr algn="l"/>
            <a:r>
              <a:rPr sz="1200" b="0" dirty="0">
                <a:solidFill>
                  <a:srgbClr val="525B69"/>
                </a:solidFill>
                <a:latin typeface="Aptos"/>
              </a:rPr>
              <a:t>Ask for camera + location. Explain why each permission is needed.</a:t>
            </a:r>
          </a:p>
        </p:txBody>
      </p:sp>
      <p:sp>
        <p:nvSpPr>
          <p:cNvPr id="83" name="TextBox 82">
            <a:extLst>
              <a:ext uri="{FF2B5EF4-FFF2-40B4-BE49-F238E27FC236}">
                <a16:creationId xmlns:a16="http://schemas.microsoft.com/office/drawing/2014/main" id="{A44E6980-4E1A-2BA2-6169-1C5653778984}"/>
              </a:ext>
            </a:extLst>
          </p:cNvPr>
          <p:cNvSpPr txBox="1"/>
          <p:nvPr/>
        </p:nvSpPr>
        <p:spPr>
          <a:xfrm>
            <a:off x="4546463" y="1874834"/>
            <a:ext cx="1353312" cy="1200329"/>
          </a:xfrm>
          <a:prstGeom prst="rect">
            <a:avLst/>
          </a:prstGeom>
          <a:noFill/>
        </p:spPr>
        <p:txBody>
          <a:bodyPr wrap="square" anchor="t">
            <a:spAutoFit/>
          </a:bodyPr>
          <a:lstStyle/>
          <a:p>
            <a:pPr algn="l"/>
            <a:r>
              <a:rPr sz="1200" b="0" dirty="0">
                <a:solidFill>
                  <a:srgbClr val="525B69"/>
                </a:solidFill>
                <a:latin typeface="Aptos"/>
              </a:rPr>
              <a:t>Guide the customer live: where to point, how close to stand, what must be visible.</a:t>
            </a:r>
          </a:p>
        </p:txBody>
      </p:sp>
      <p:sp>
        <p:nvSpPr>
          <p:cNvPr id="85" name="TextBox 84">
            <a:extLst>
              <a:ext uri="{FF2B5EF4-FFF2-40B4-BE49-F238E27FC236}">
                <a16:creationId xmlns:a16="http://schemas.microsoft.com/office/drawing/2014/main" id="{A585B0BF-CFBC-D356-0DD7-3A9BD2511D63}"/>
              </a:ext>
            </a:extLst>
          </p:cNvPr>
          <p:cNvSpPr txBox="1"/>
          <p:nvPr/>
        </p:nvSpPr>
        <p:spPr>
          <a:xfrm>
            <a:off x="6390807" y="1936266"/>
            <a:ext cx="1353312" cy="1015663"/>
          </a:xfrm>
          <a:prstGeom prst="rect">
            <a:avLst/>
          </a:prstGeom>
          <a:noFill/>
        </p:spPr>
        <p:txBody>
          <a:bodyPr wrap="square" anchor="t">
            <a:spAutoFit/>
          </a:bodyPr>
          <a:lstStyle/>
          <a:p>
            <a:pPr algn="l"/>
            <a:r>
              <a:rPr sz="1200" b="0" dirty="0">
                <a:solidFill>
                  <a:srgbClr val="525B69"/>
                </a:solidFill>
                <a:latin typeface="Aptos"/>
              </a:rPr>
              <a:t>Quality + relevance checks happen while capturing, not after submission.</a:t>
            </a:r>
          </a:p>
        </p:txBody>
      </p:sp>
      <p:sp>
        <p:nvSpPr>
          <p:cNvPr id="87" name="TextBox 86">
            <a:extLst>
              <a:ext uri="{FF2B5EF4-FFF2-40B4-BE49-F238E27FC236}">
                <a16:creationId xmlns:a16="http://schemas.microsoft.com/office/drawing/2014/main" id="{903EA10A-276F-B9E9-9653-49B96F197243}"/>
              </a:ext>
            </a:extLst>
          </p:cNvPr>
          <p:cNvSpPr txBox="1"/>
          <p:nvPr/>
        </p:nvSpPr>
        <p:spPr>
          <a:xfrm>
            <a:off x="8214513" y="1967166"/>
            <a:ext cx="1353312" cy="1015663"/>
          </a:xfrm>
          <a:prstGeom prst="rect">
            <a:avLst/>
          </a:prstGeom>
          <a:noFill/>
        </p:spPr>
        <p:txBody>
          <a:bodyPr wrap="square" anchor="t">
            <a:spAutoFit/>
          </a:bodyPr>
          <a:lstStyle/>
          <a:p>
            <a:pPr algn="l"/>
            <a:r>
              <a:rPr sz="1200" b="0" dirty="0">
                <a:solidFill>
                  <a:srgbClr val="525B69"/>
                </a:solidFill>
                <a:latin typeface="Aptos"/>
              </a:rPr>
              <a:t>Show exactly what has been captured and what, if anything, is still missing.</a:t>
            </a:r>
          </a:p>
        </p:txBody>
      </p:sp>
      <p:sp>
        <p:nvSpPr>
          <p:cNvPr id="89" name="TextBox 88">
            <a:extLst>
              <a:ext uri="{FF2B5EF4-FFF2-40B4-BE49-F238E27FC236}">
                <a16:creationId xmlns:a16="http://schemas.microsoft.com/office/drawing/2014/main" id="{2AE05395-7E9D-CC8E-8FA1-42D5CCA56503}"/>
              </a:ext>
            </a:extLst>
          </p:cNvPr>
          <p:cNvSpPr txBox="1"/>
          <p:nvPr/>
        </p:nvSpPr>
        <p:spPr>
          <a:xfrm>
            <a:off x="10149840" y="1863994"/>
            <a:ext cx="1353312" cy="1200329"/>
          </a:xfrm>
          <a:prstGeom prst="rect">
            <a:avLst/>
          </a:prstGeom>
          <a:noFill/>
        </p:spPr>
        <p:txBody>
          <a:bodyPr wrap="square" anchor="t">
            <a:spAutoFit/>
          </a:bodyPr>
          <a:lstStyle/>
          <a:p>
            <a:pPr algn="l"/>
            <a:r>
              <a:rPr sz="1200" b="0" dirty="0">
                <a:solidFill>
                  <a:srgbClr val="525B69"/>
                </a:solidFill>
                <a:latin typeface="Aptos"/>
              </a:rPr>
              <a:t>Package evidence and run automated verification; no manual queue for normal cases.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21792" y="713232"/>
            <a:ext cx="10972800" cy="707886"/>
          </a:xfrm>
          <a:prstGeom prst="rect">
            <a:avLst/>
          </a:prstGeom>
          <a:noFill/>
        </p:spPr>
        <p:txBody>
          <a:bodyPr wrap="square" anchor="t">
            <a:spAutoFit/>
          </a:bodyPr>
          <a:lstStyle/>
          <a:p>
            <a:pPr algn="l"/>
            <a:r>
              <a:rPr lang="en-IN" sz="4000" b="1" dirty="0">
                <a:solidFill>
                  <a:srgbClr val="1F2631"/>
                </a:solidFill>
                <a:latin typeface="Aptos"/>
              </a:rPr>
              <a:t>Designing the real-world failure scenarios</a:t>
            </a:r>
            <a:endParaRPr sz="4000" b="1" dirty="0">
              <a:solidFill>
                <a:srgbClr val="1F2631"/>
              </a:solidFill>
              <a:latin typeface="Aptos"/>
            </a:endParaRPr>
          </a:p>
        </p:txBody>
      </p:sp>
      <p:graphicFrame>
        <p:nvGraphicFramePr>
          <p:cNvPr id="47" name="Table 46">
            <a:extLst>
              <a:ext uri="{FF2B5EF4-FFF2-40B4-BE49-F238E27FC236}">
                <a16:creationId xmlns:a16="http://schemas.microsoft.com/office/drawing/2014/main" id="{AFDFEFB3-4D45-113B-9AD7-17482E187D79}"/>
              </a:ext>
            </a:extLst>
          </p:cNvPr>
          <p:cNvGraphicFramePr>
            <a:graphicFrameLocks noGrp="1"/>
          </p:cNvGraphicFramePr>
          <p:nvPr>
            <p:extLst>
              <p:ext uri="{D42A27DB-BD31-4B8C-83A1-F6EECF244321}">
                <p14:modId xmlns:p14="http://schemas.microsoft.com/office/powerpoint/2010/main" val="3481530378"/>
              </p:ext>
            </p:extLst>
          </p:nvPr>
        </p:nvGraphicFramePr>
        <p:xfrm>
          <a:off x="451952" y="1421118"/>
          <a:ext cx="11402592" cy="5208235"/>
        </p:xfrm>
        <a:graphic>
          <a:graphicData uri="http://schemas.openxmlformats.org/drawingml/2006/table">
            <a:tbl>
              <a:tblPr firstRow="1" bandRow="1">
                <a:tableStyleId>{5C22544A-7EE6-4342-B048-85BDC9FD1C3A}</a:tableStyleId>
              </a:tblPr>
              <a:tblGrid>
                <a:gridCol w="3800864">
                  <a:extLst>
                    <a:ext uri="{9D8B030D-6E8A-4147-A177-3AD203B41FA5}">
                      <a16:colId xmlns:a16="http://schemas.microsoft.com/office/drawing/2014/main" val="2642199176"/>
                    </a:ext>
                  </a:extLst>
                </a:gridCol>
                <a:gridCol w="3800864">
                  <a:extLst>
                    <a:ext uri="{9D8B030D-6E8A-4147-A177-3AD203B41FA5}">
                      <a16:colId xmlns:a16="http://schemas.microsoft.com/office/drawing/2014/main" val="1778186974"/>
                    </a:ext>
                  </a:extLst>
                </a:gridCol>
                <a:gridCol w="3800864">
                  <a:extLst>
                    <a:ext uri="{9D8B030D-6E8A-4147-A177-3AD203B41FA5}">
                      <a16:colId xmlns:a16="http://schemas.microsoft.com/office/drawing/2014/main" val="2620116829"/>
                    </a:ext>
                  </a:extLst>
                </a:gridCol>
              </a:tblGrid>
              <a:tr h="354642">
                <a:tc>
                  <a:txBody>
                    <a:bodyPr/>
                    <a:lstStyle/>
                    <a:p>
                      <a:r>
                        <a:rPr lang="en-IN" sz="1600" dirty="0"/>
                        <a:t>Failure Scenario</a:t>
                      </a:r>
                    </a:p>
                  </a:txBody>
                  <a:tcPr/>
                </a:tc>
                <a:tc>
                  <a:txBody>
                    <a:bodyPr/>
                    <a:lstStyle/>
                    <a:p>
                      <a:r>
                        <a:rPr lang="en-IN" sz="1600" dirty="0"/>
                        <a:t>Display Tag</a:t>
                      </a:r>
                    </a:p>
                  </a:txBody>
                  <a:tcPr/>
                </a:tc>
                <a:tc>
                  <a:txBody>
                    <a:bodyPr/>
                    <a:lstStyle/>
                    <a:p>
                      <a:r>
                        <a:rPr lang="en-IN" sz="1600" dirty="0"/>
                        <a:t>Need for the product</a:t>
                      </a:r>
                    </a:p>
                  </a:txBody>
                  <a:tcPr/>
                </a:tc>
                <a:extLst>
                  <a:ext uri="{0D108BD9-81ED-4DB2-BD59-A6C34878D82A}">
                    <a16:rowId xmlns:a16="http://schemas.microsoft.com/office/drawing/2014/main" val="3879319107"/>
                  </a:ext>
                </a:extLst>
              </a:tr>
              <a:tr h="9237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dirty="0">
                          <a:solidFill>
                            <a:srgbClr val="1F2631"/>
                          </a:solidFill>
                          <a:latin typeface="Aptos"/>
                        </a:rPr>
                        <a:t>Camera permission denied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1F2631"/>
                          </a:solidFill>
                          <a:latin typeface="Aptos"/>
                        </a:rPr>
                        <a:t>“We need the camera to capture live evidence.”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1F2631"/>
                          </a:solidFill>
                          <a:latin typeface="Aptos"/>
                        </a:rPr>
                        <a:t>Explain purpose → Retry. If still denied, show device-setting guidance. Do not silently fail.</a:t>
                      </a:r>
                    </a:p>
                  </a:txBody>
                  <a:tcPr/>
                </a:tc>
                <a:extLst>
                  <a:ext uri="{0D108BD9-81ED-4DB2-BD59-A6C34878D82A}">
                    <a16:rowId xmlns:a16="http://schemas.microsoft.com/office/drawing/2014/main" val="2636723691"/>
                  </a:ext>
                </a:extLst>
              </a:tr>
              <a:tr h="86946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dirty="0">
                          <a:solidFill>
                            <a:srgbClr val="1F2631"/>
                          </a:solidFill>
                          <a:latin typeface="Aptos"/>
                        </a:rPr>
                        <a:t>Location permission denied</a:t>
                      </a:r>
                    </a:p>
                    <a:p>
                      <a:endParaRPr lang="en-IN"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1F2631"/>
                          </a:solidFill>
                          <a:latin typeface="Aptos"/>
                        </a:rPr>
                        <a:t>“Location helps us confirm you are at the declared premises.”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1F2631"/>
                          </a:solidFill>
                          <a:latin typeface="Aptos"/>
                        </a:rPr>
                        <a:t>Explain purpose → Retry. If unavailable, use the permitted alternative path rather than blocking without explanation.</a:t>
                      </a:r>
                    </a:p>
                  </a:txBody>
                  <a:tcPr/>
                </a:tc>
                <a:extLst>
                  <a:ext uri="{0D108BD9-81ED-4DB2-BD59-A6C34878D82A}">
                    <a16:rowId xmlns:a16="http://schemas.microsoft.com/office/drawing/2014/main" val="3824203530"/>
                  </a:ext>
                </a:extLst>
              </a:tr>
              <a:tr h="46155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1F2631"/>
                          </a:solidFill>
                          <a:latin typeface="Aptos"/>
                        </a:rPr>
                        <a:t>Photo/video is blurry or dark</a:t>
                      </a:r>
                    </a:p>
                    <a:p>
                      <a:endParaRPr lang="en-IN"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1F2631"/>
                          </a:solidFill>
                          <a:latin typeface="Aptos"/>
                        </a:rPr>
                        <a:t>“We can’t use this yet. Move closer / add light.”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1F2631"/>
                          </a:solidFill>
                          <a:latin typeface="Aptos"/>
                        </a:rPr>
                        <a:t>Detect before acceptance → keep customer on the same step → recapture.</a:t>
                      </a:r>
                    </a:p>
                  </a:txBody>
                  <a:tcPr/>
                </a:tc>
                <a:extLst>
                  <a:ext uri="{0D108BD9-81ED-4DB2-BD59-A6C34878D82A}">
                    <a16:rowId xmlns:a16="http://schemas.microsoft.com/office/drawing/2014/main" val="2890266648"/>
                  </a:ext>
                </a:extLst>
              </a:tr>
              <a:tr h="84690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dirty="0">
                          <a:solidFill>
                            <a:srgbClr val="1F2631"/>
                          </a:solidFill>
                          <a:latin typeface="Aptos"/>
                        </a:rPr>
                        <a:t>Network drops</a:t>
                      </a:r>
                    </a:p>
                    <a:p>
                      <a:endParaRPr lang="en-IN"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1F2631"/>
                          </a:solidFill>
                          <a:latin typeface="Aptos"/>
                        </a:rPr>
                        <a:t>“Your progress is saved. We’ll upload when you’re connected.”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1F2631"/>
                          </a:solidFill>
                          <a:latin typeface="Aptos"/>
                        </a:rPr>
                        <a:t>Persist completed capture securely and resume upload; customer should not repeat work.</a:t>
                      </a:r>
                    </a:p>
                  </a:txBody>
                  <a:tcPr/>
                </a:tc>
                <a:extLst>
                  <a:ext uri="{0D108BD9-81ED-4DB2-BD59-A6C34878D82A}">
                    <a16:rowId xmlns:a16="http://schemas.microsoft.com/office/drawing/2014/main" val="463138504"/>
                  </a:ext>
                </a:extLst>
              </a:tr>
              <a:tr h="71058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dirty="0">
                          <a:solidFill>
                            <a:srgbClr val="1F2631"/>
                          </a:solidFill>
                          <a:latin typeface="Aptos"/>
                        </a:rPr>
                        <a:t>Customer closes the journey</a:t>
                      </a:r>
                    </a:p>
                    <a:p>
                      <a:endParaRPr lang="en-IN"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1F2631"/>
                          </a:solidFill>
                          <a:latin typeface="Aptos"/>
                        </a:rPr>
                        <a:t>“You’re 2 of 3 steps complete.”</a:t>
                      </a:r>
                    </a:p>
                    <a:p>
                      <a:endParaRPr lang="en-IN"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1F2631"/>
                          </a:solidFill>
                          <a:latin typeface="Aptos"/>
                        </a:rPr>
                        <a:t>Resume from last completed step instead of restarting.</a:t>
                      </a:r>
                    </a:p>
                  </a:txBody>
                  <a:tcPr/>
                </a:tc>
                <a:extLst>
                  <a:ext uri="{0D108BD9-81ED-4DB2-BD59-A6C34878D82A}">
                    <a16:rowId xmlns:a16="http://schemas.microsoft.com/office/drawing/2014/main" val="4089451149"/>
                  </a:ext>
                </a:extLst>
              </a:tr>
              <a:tr h="9237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1F2631"/>
                          </a:solidFill>
                          <a:latin typeface="Aptos"/>
                        </a:rPr>
                        <a:t>Evidence doesn't match the requested view</a:t>
                      </a:r>
                    </a:p>
                    <a:p>
                      <a:endParaRPr lang="en-IN"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1F2631"/>
                          </a:solidFill>
                          <a:latin typeface="Aptos"/>
                        </a:rPr>
                        <a:t>“We need a clearer view of the entrance / work area.”</a:t>
                      </a:r>
                    </a:p>
                    <a:p>
                      <a:endParaRPr lang="en-IN"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1F2631"/>
                          </a:solidFill>
                          <a:latin typeface="Aptos"/>
                        </a:rPr>
                        <a:t>Explain the missing signal in plain language → ask for one targeted recapture.</a:t>
                      </a:r>
                    </a:p>
                  </a:txBody>
                  <a:tcPr/>
                </a:tc>
                <a:extLst>
                  <a:ext uri="{0D108BD9-81ED-4DB2-BD59-A6C34878D82A}">
                    <a16:rowId xmlns:a16="http://schemas.microsoft.com/office/drawing/2014/main" val="387277993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21792" y="713232"/>
            <a:ext cx="10972800" cy="707886"/>
          </a:xfrm>
          <a:prstGeom prst="rect">
            <a:avLst/>
          </a:prstGeom>
          <a:noFill/>
        </p:spPr>
        <p:txBody>
          <a:bodyPr wrap="square" anchor="t">
            <a:spAutoFit/>
          </a:bodyPr>
          <a:lstStyle/>
          <a:p>
            <a:pPr algn="l"/>
            <a:r>
              <a:rPr lang="en-IN" sz="4000" b="1" dirty="0">
                <a:solidFill>
                  <a:srgbClr val="1F2631"/>
                </a:solidFill>
                <a:latin typeface="Aptos"/>
              </a:rPr>
              <a:t>MVP</a:t>
            </a:r>
            <a:endParaRPr sz="4000" b="1" dirty="0">
              <a:solidFill>
                <a:srgbClr val="1F2631"/>
              </a:solidFill>
              <a:latin typeface="Aptos"/>
            </a:endParaRPr>
          </a:p>
        </p:txBody>
      </p:sp>
      <p:sp>
        <p:nvSpPr>
          <p:cNvPr id="6" name="TextBox 5"/>
          <p:cNvSpPr txBox="1"/>
          <p:nvPr/>
        </p:nvSpPr>
        <p:spPr>
          <a:xfrm>
            <a:off x="621792" y="1307592"/>
            <a:ext cx="10972800" cy="523220"/>
          </a:xfrm>
          <a:prstGeom prst="rect">
            <a:avLst/>
          </a:prstGeom>
          <a:noFill/>
        </p:spPr>
        <p:txBody>
          <a:bodyPr wrap="square" anchor="t">
            <a:spAutoFit/>
          </a:bodyPr>
          <a:lstStyle/>
          <a:p>
            <a:pPr algn="l"/>
            <a:r>
              <a:rPr sz="1400" b="0" dirty="0">
                <a:latin typeface="Aptos"/>
              </a:rPr>
              <a:t>I would launch the smallest version that can take a genuine customer from request → usable evidence → automated outcome.</a:t>
            </a:r>
            <a:r>
              <a:rPr lang="en-IN" sz="1400" b="0" dirty="0">
                <a:latin typeface="Aptos"/>
              </a:rPr>
              <a:t> I would not build a complex verification process with millions of things running at the backend for the MVP.</a:t>
            </a:r>
            <a:endParaRPr sz="1400" b="0" dirty="0">
              <a:latin typeface="Aptos"/>
            </a:endParaRPr>
          </a:p>
        </p:txBody>
      </p:sp>
      <p:sp>
        <p:nvSpPr>
          <p:cNvPr id="8" name="Rounded Rectangle 7"/>
          <p:cNvSpPr/>
          <p:nvPr/>
        </p:nvSpPr>
        <p:spPr>
          <a:xfrm>
            <a:off x="713232" y="2267712"/>
            <a:ext cx="1737360" cy="1024128"/>
          </a:xfrm>
          <a:prstGeom prst="roundRect">
            <a:avLst/>
          </a:prstGeom>
          <a:solidFill>
            <a:srgbClr val="FFFFFF"/>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395728"/>
            <a:ext cx="1517904" cy="307777"/>
          </a:xfrm>
          <a:prstGeom prst="rect">
            <a:avLst/>
          </a:prstGeom>
          <a:noFill/>
        </p:spPr>
        <p:txBody>
          <a:bodyPr wrap="square" anchor="t">
            <a:spAutoFit/>
          </a:bodyPr>
          <a:lstStyle/>
          <a:p>
            <a:pPr algn="l"/>
            <a:r>
              <a:rPr sz="1400" b="1" dirty="0">
                <a:solidFill>
                  <a:srgbClr val="1F2631"/>
                </a:solidFill>
                <a:latin typeface="Aptos"/>
              </a:rPr>
              <a:t>Customer starts</a:t>
            </a:r>
          </a:p>
        </p:txBody>
      </p:sp>
      <p:sp>
        <p:nvSpPr>
          <p:cNvPr id="10" name="TextBox 9"/>
          <p:cNvSpPr txBox="1"/>
          <p:nvPr/>
        </p:nvSpPr>
        <p:spPr>
          <a:xfrm>
            <a:off x="822960" y="2715768"/>
            <a:ext cx="1517904" cy="461665"/>
          </a:xfrm>
          <a:prstGeom prst="rect">
            <a:avLst/>
          </a:prstGeom>
          <a:noFill/>
        </p:spPr>
        <p:txBody>
          <a:bodyPr wrap="square" anchor="t">
            <a:spAutoFit/>
          </a:bodyPr>
          <a:lstStyle/>
          <a:p>
            <a:pPr algn="l"/>
            <a:r>
              <a:rPr sz="1200" b="0" dirty="0">
                <a:solidFill>
                  <a:srgbClr val="525B69"/>
                </a:solidFill>
                <a:latin typeface="Aptos"/>
              </a:rPr>
              <a:t>One clear reason + time estimate</a:t>
            </a:r>
          </a:p>
        </p:txBody>
      </p:sp>
      <p:sp>
        <p:nvSpPr>
          <p:cNvPr id="11" name="Rounded Rectangle 10"/>
          <p:cNvSpPr/>
          <p:nvPr/>
        </p:nvSpPr>
        <p:spPr>
          <a:xfrm>
            <a:off x="2743200" y="2267712"/>
            <a:ext cx="1737360" cy="1024128"/>
          </a:xfrm>
          <a:prstGeom prst="roundRect">
            <a:avLst/>
          </a:prstGeom>
          <a:solidFill>
            <a:srgbClr val="FFFFFF"/>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52928" y="2395728"/>
            <a:ext cx="1517904" cy="307777"/>
          </a:xfrm>
          <a:prstGeom prst="rect">
            <a:avLst/>
          </a:prstGeom>
          <a:noFill/>
        </p:spPr>
        <p:txBody>
          <a:bodyPr wrap="square" anchor="t">
            <a:spAutoFit/>
          </a:bodyPr>
          <a:lstStyle/>
          <a:p>
            <a:pPr algn="l"/>
            <a:r>
              <a:rPr sz="1400" b="1" dirty="0">
                <a:solidFill>
                  <a:srgbClr val="1F2631"/>
                </a:solidFill>
                <a:latin typeface="Aptos"/>
              </a:rPr>
              <a:t>Guided capture</a:t>
            </a:r>
          </a:p>
        </p:txBody>
      </p:sp>
      <p:sp>
        <p:nvSpPr>
          <p:cNvPr id="13" name="TextBox 12"/>
          <p:cNvSpPr txBox="1"/>
          <p:nvPr/>
        </p:nvSpPr>
        <p:spPr>
          <a:xfrm>
            <a:off x="2852928" y="2715768"/>
            <a:ext cx="1517904" cy="461665"/>
          </a:xfrm>
          <a:prstGeom prst="rect">
            <a:avLst/>
          </a:prstGeom>
          <a:noFill/>
        </p:spPr>
        <p:txBody>
          <a:bodyPr wrap="square" anchor="t">
            <a:spAutoFit/>
          </a:bodyPr>
          <a:lstStyle/>
          <a:p>
            <a:pPr algn="l"/>
            <a:r>
              <a:rPr sz="1200" b="0" dirty="0">
                <a:solidFill>
                  <a:srgbClr val="525B69"/>
                </a:solidFill>
                <a:latin typeface="Aptos"/>
              </a:rPr>
              <a:t>Persona-based evidence checklist</a:t>
            </a:r>
          </a:p>
        </p:txBody>
      </p:sp>
      <p:sp>
        <p:nvSpPr>
          <p:cNvPr id="14" name="Rounded Rectangle 13"/>
          <p:cNvSpPr/>
          <p:nvPr/>
        </p:nvSpPr>
        <p:spPr>
          <a:xfrm>
            <a:off x="4773168" y="2267712"/>
            <a:ext cx="1737360" cy="1024128"/>
          </a:xfrm>
          <a:prstGeom prst="roundRect">
            <a:avLst/>
          </a:prstGeom>
          <a:solidFill>
            <a:srgbClr val="FFFFFF"/>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82896" y="2331218"/>
            <a:ext cx="1517904" cy="523220"/>
          </a:xfrm>
          <a:prstGeom prst="rect">
            <a:avLst/>
          </a:prstGeom>
          <a:noFill/>
        </p:spPr>
        <p:txBody>
          <a:bodyPr wrap="square" anchor="t">
            <a:spAutoFit/>
          </a:bodyPr>
          <a:lstStyle/>
          <a:p>
            <a:pPr algn="l"/>
            <a:r>
              <a:rPr sz="1400" b="1" dirty="0">
                <a:solidFill>
                  <a:srgbClr val="1F2631"/>
                </a:solidFill>
                <a:latin typeface="Aptos"/>
              </a:rPr>
              <a:t>Live quality checks</a:t>
            </a:r>
          </a:p>
        </p:txBody>
      </p:sp>
      <p:sp>
        <p:nvSpPr>
          <p:cNvPr id="16" name="TextBox 15"/>
          <p:cNvSpPr txBox="1"/>
          <p:nvPr/>
        </p:nvSpPr>
        <p:spPr>
          <a:xfrm>
            <a:off x="4892040" y="2747878"/>
            <a:ext cx="1517904" cy="461665"/>
          </a:xfrm>
          <a:prstGeom prst="rect">
            <a:avLst/>
          </a:prstGeom>
          <a:noFill/>
        </p:spPr>
        <p:txBody>
          <a:bodyPr wrap="square" anchor="t">
            <a:spAutoFit/>
          </a:bodyPr>
          <a:lstStyle/>
          <a:p>
            <a:pPr algn="l"/>
            <a:r>
              <a:rPr sz="1200" b="0" dirty="0">
                <a:solidFill>
                  <a:srgbClr val="525B69"/>
                </a:solidFill>
                <a:latin typeface="Aptos"/>
              </a:rPr>
              <a:t>Blur, lighting, framing, relevance</a:t>
            </a:r>
          </a:p>
        </p:txBody>
      </p:sp>
      <p:sp>
        <p:nvSpPr>
          <p:cNvPr id="17" name="Rounded Rectangle 16"/>
          <p:cNvSpPr/>
          <p:nvPr/>
        </p:nvSpPr>
        <p:spPr>
          <a:xfrm>
            <a:off x="713232" y="3794760"/>
            <a:ext cx="1737360" cy="1024128"/>
          </a:xfrm>
          <a:prstGeom prst="roundRect">
            <a:avLst/>
          </a:prstGeom>
          <a:solidFill>
            <a:srgbClr val="FFFFFF"/>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3922776"/>
            <a:ext cx="1517904" cy="307777"/>
          </a:xfrm>
          <a:prstGeom prst="rect">
            <a:avLst/>
          </a:prstGeom>
          <a:noFill/>
        </p:spPr>
        <p:txBody>
          <a:bodyPr wrap="square" anchor="t">
            <a:spAutoFit/>
          </a:bodyPr>
          <a:lstStyle/>
          <a:p>
            <a:pPr algn="l"/>
            <a:r>
              <a:rPr sz="1400" b="1" dirty="0">
                <a:solidFill>
                  <a:srgbClr val="1F2631"/>
                </a:solidFill>
                <a:latin typeface="Aptos"/>
              </a:rPr>
              <a:t>Recover</a:t>
            </a:r>
          </a:p>
        </p:txBody>
      </p:sp>
      <p:sp>
        <p:nvSpPr>
          <p:cNvPr id="19" name="TextBox 18"/>
          <p:cNvSpPr txBox="1"/>
          <p:nvPr/>
        </p:nvSpPr>
        <p:spPr>
          <a:xfrm>
            <a:off x="822960" y="4242816"/>
            <a:ext cx="1563624" cy="461665"/>
          </a:xfrm>
          <a:prstGeom prst="rect">
            <a:avLst/>
          </a:prstGeom>
          <a:noFill/>
        </p:spPr>
        <p:txBody>
          <a:bodyPr wrap="square" anchor="t">
            <a:spAutoFit/>
          </a:bodyPr>
          <a:lstStyle/>
          <a:p>
            <a:pPr algn="l"/>
            <a:r>
              <a:rPr sz="1200" b="0" dirty="0">
                <a:solidFill>
                  <a:srgbClr val="525B69"/>
                </a:solidFill>
                <a:latin typeface="Aptos"/>
              </a:rPr>
              <a:t>Retry + save/resume + permission help</a:t>
            </a:r>
          </a:p>
        </p:txBody>
      </p:sp>
      <p:sp>
        <p:nvSpPr>
          <p:cNvPr id="20" name="Rounded Rectangle 19"/>
          <p:cNvSpPr/>
          <p:nvPr/>
        </p:nvSpPr>
        <p:spPr>
          <a:xfrm>
            <a:off x="2743200" y="3794760"/>
            <a:ext cx="1737360" cy="1024128"/>
          </a:xfrm>
          <a:prstGeom prst="roundRect">
            <a:avLst/>
          </a:prstGeom>
          <a:solidFill>
            <a:srgbClr val="FFFFFF"/>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831440" y="3849624"/>
            <a:ext cx="1517904" cy="523220"/>
          </a:xfrm>
          <a:prstGeom prst="rect">
            <a:avLst/>
          </a:prstGeom>
          <a:noFill/>
        </p:spPr>
        <p:txBody>
          <a:bodyPr wrap="square" anchor="t">
            <a:spAutoFit/>
          </a:bodyPr>
          <a:lstStyle/>
          <a:p>
            <a:pPr algn="l"/>
            <a:r>
              <a:rPr sz="1400" b="1" dirty="0">
                <a:solidFill>
                  <a:srgbClr val="1F2631"/>
                </a:solidFill>
                <a:latin typeface="Aptos"/>
              </a:rPr>
              <a:t>Evidence package</a:t>
            </a:r>
          </a:p>
        </p:txBody>
      </p:sp>
      <p:sp>
        <p:nvSpPr>
          <p:cNvPr id="22" name="TextBox 21"/>
          <p:cNvSpPr txBox="1"/>
          <p:nvPr/>
        </p:nvSpPr>
        <p:spPr>
          <a:xfrm>
            <a:off x="2831440" y="4293326"/>
            <a:ext cx="1517904" cy="461665"/>
          </a:xfrm>
          <a:prstGeom prst="rect">
            <a:avLst/>
          </a:prstGeom>
          <a:noFill/>
        </p:spPr>
        <p:txBody>
          <a:bodyPr wrap="square" anchor="t">
            <a:spAutoFit/>
          </a:bodyPr>
          <a:lstStyle/>
          <a:p>
            <a:pPr algn="l"/>
            <a:r>
              <a:rPr sz="1200" b="0" dirty="0">
                <a:solidFill>
                  <a:srgbClr val="525B69"/>
                </a:solidFill>
                <a:latin typeface="Aptos"/>
              </a:rPr>
              <a:t>Complete, current session evidence</a:t>
            </a:r>
          </a:p>
        </p:txBody>
      </p:sp>
      <p:sp>
        <p:nvSpPr>
          <p:cNvPr id="23" name="Rounded Rectangle 22"/>
          <p:cNvSpPr/>
          <p:nvPr/>
        </p:nvSpPr>
        <p:spPr>
          <a:xfrm>
            <a:off x="4773168" y="3794760"/>
            <a:ext cx="1737360" cy="1024128"/>
          </a:xfrm>
          <a:prstGeom prst="roundRect">
            <a:avLst/>
          </a:prstGeom>
          <a:solidFill>
            <a:srgbClr val="FFFFFF"/>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82896" y="3838219"/>
            <a:ext cx="1517904" cy="523220"/>
          </a:xfrm>
          <a:prstGeom prst="rect">
            <a:avLst/>
          </a:prstGeom>
          <a:noFill/>
        </p:spPr>
        <p:txBody>
          <a:bodyPr wrap="square" anchor="t">
            <a:spAutoFit/>
          </a:bodyPr>
          <a:lstStyle/>
          <a:p>
            <a:pPr algn="l"/>
            <a:r>
              <a:rPr sz="1400" b="1" dirty="0">
                <a:solidFill>
                  <a:srgbClr val="1F2631"/>
                </a:solidFill>
                <a:latin typeface="Aptos"/>
              </a:rPr>
              <a:t>Automated outcome</a:t>
            </a:r>
          </a:p>
        </p:txBody>
      </p:sp>
      <p:sp>
        <p:nvSpPr>
          <p:cNvPr id="25" name="TextBox 24"/>
          <p:cNvSpPr txBox="1"/>
          <p:nvPr/>
        </p:nvSpPr>
        <p:spPr>
          <a:xfrm>
            <a:off x="4882896" y="4242816"/>
            <a:ext cx="1691640" cy="646331"/>
          </a:xfrm>
          <a:prstGeom prst="rect">
            <a:avLst/>
          </a:prstGeom>
          <a:noFill/>
        </p:spPr>
        <p:txBody>
          <a:bodyPr wrap="square" anchor="t">
            <a:spAutoFit/>
          </a:bodyPr>
          <a:lstStyle/>
          <a:p>
            <a:pPr algn="l"/>
            <a:r>
              <a:rPr sz="1200" b="0" dirty="0">
                <a:solidFill>
                  <a:srgbClr val="525B69"/>
                </a:solidFill>
                <a:latin typeface="Aptos"/>
              </a:rPr>
              <a:t>Pass / customer recapture / controlled exception</a:t>
            </a:r>
          </a:p>
        </p:txBody>
      </p:sp>
      <p:cxnSp>
        <p:nvCxnSpPr>
          <p:cNvPr id="26" name="Connector 25"/>
          <p:cNvCxnSpPr/>
          <p:nvPr/>
        </p:nvCxnSpPr>
        <p:spPr>
          <a:xfrm>
            <a:off x="2450592" y="2779776"/>
            <a:ext cx="292608" cy="0"/>
          </a:xfrm>
          <a:prstGeom prst="line">
            <a:avLst/>
          </a:prstGeom>
          <a:ln w="19050">
            <a:solidFill>
              <a:srgbClr val="2F5BA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480560" y="2779776"/>
            <a:ext cx="292608" cy="0"/>
          </a:xfrm>
          <a:prstGeom prst="line">
            <a:avLst/>
          </a:prstGeom>
          <a:ln w="19050">
            <a:solidFill>
              <a:srgbClr val="2F5BA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641848" y="3291840"/>
            <a:ext cx="0" cy="502920"/>
          </a:xfrm>
          <a:prstGeom prst="line">
            <a:avLst/>
          </a:prstGeom>
          <a:ln w="19050">
            <a:solidFill>
              <a:srgbClr val="2F5BA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4480560" y="4306824"/>
            <a:ext cx="292608" cy="0"/>
          </a:xfrm>
          <a:prstGeom prst="line">
            <a:avLst/>
          </a:prstGeom>
          <a:ln w="19050">
            <a:solidFill>
              <a:srgbClr val="2F5BA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2450592" y="4306824"/>
            <a:ext cx="292608" cy="0"/>
          </a:xfrm>
          <a:prstGeom prst="line">
            <a:avLst/>
          </a:prstGeom>
          <a:ln w="19050">
            <a:solidFill>
              <a:srgbClr val="2F5BA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581912" y="3291840"/>
            <a:ext cx="0" cy="502920"/>
          </a:xfrm>
          <a:prstGeom prst="line">
            <a:avLst/>
          </a:prstGeom>
          <a:ln w="19050">
            <a:solidFill>
              <a:srgbClr val="BF7E26"/>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086600" y="1965960"/>
            <a:ext cx="4434840" cy="3703320"/>
          </a:xfrm>
          <a:prstGeom prst="roundRect">
            <a:avLst/>
          </a:prstGeom>
          <a:solidFill>
            <a:srgbClr val="FFFFFF"/>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086600" y="1965960"/>
            <a:ext cx="50292" cy="3703320"/>
          </a:xfrm>
          <a:prstGeom prst="rect">
            <a:avLst/>
          </a:prstGeom>
          <a:solidFill>
            <a:srgbClr val="2F5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296912" y="2354121"/>
            <a:ext cx="4160520" cy="369332"/>
          </a:xfrm>
          <a:prstGeom prst="rect">
            <a:avLst/>
          </a:prstGeom>
          <a:noFill/>
        </p:spPr>
        <p:txBody>
          <a:bodyPr wrap="square" anchor="t">
            <a:spAutoFit/>
          </a:bodyPr>
          <a:lstStyle/>
          <a:p>
            <a:pPr algn="l"/>
            <a:r>
              <a:rPr b="1" dirty="0">
                <a:solidFill>
                  <a:srgbClr val="1F2631"/>
                </a:solidFill>
                <a:latin typeface="Aptos"/>
              </a:rPr>
              <a:t>Build for MVP</a:t>
            </a:r>
          </a:p>
        </p:txBody>
      </p:sp>
      <p:sp>
        <p:nvSpPr>
          <p:cNvPr id="35" name="TextBox 34"/>
          <p:cNvSpPr txBox="1"/>
          <p:nvPr/>
        </p:nvSpPr>
        <p:spPr>
          <a:xfrm>
            <a:off x="7296912" y="2876341"/>
            <a:ext cx="4160520" cy="2246769"/>
          </a:xfrm>
          <a:prstGeom prst="rect">
            <a:avLst/>
          </a:prstGeom>
          <a:noFill/>
        </p:spPr>
        <p:txBody>
          <a:bodyPr wrap="square" anchor="t">
            <a:spAutoFit/>
          </a:bodyPr>
          <a:lstStyle/>
          <a:p>
            <a:pPr marL="285750" indent="-285750" algn="l">
              <a:buFont typeface="Arial" panose="020B0604020202020204" pitchFamily="34" charset="0"/>
              <a:buChar char="•"/>
            </a:pPr>
            <a:r>
              <a:rPr sz="1400" b="0" dirty="0">
                <a:solidFill>
                  <a:srgbClr val="1F2631"/>
                </a:solidFill>
                <a:latin typeface="Aptos"/>
              </a:rPr>
              <a:t>Mobile-first guided capture
3–5 common premises contexts
Camera + location permission handling
Live image/video quality checks</a:t>
            </a:r>
            <a:r>
              <a:rPr lang="en-IN" sz="1400" b="0" dirty="0">
                <a:solidFill>
                  <a:srgbClr val="1F2631"/>
                </a:solidFill>
                <a:latin typeface="Aptos"/>
              </a:rPr>
              <a:t>
</a:t>
            </a:r>
            <a:r>
              <a:rPr sz="1400" b="0" dirty="0">
                <a:solidFill>
                  <a:srgbClr val="1F2631"/>
                </a:solidFill>
                <a:latin typeface="Aptos"/>
              </a:rPr>
              <a:t>Targeted recapture guidance
Save / resume
Final evidence review
Automated evidence decisioning for normal cases
Basic privacy + retention controls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713232"/>
            <a:ext cx="10972800" cy="707886"/>
          </a:xfrm>
          <a:prstGeom prst="rect">
            <a:avLst/>
          </a:prstGeom>
          <a:noFill/>
        </p:spPr>
        <p:txBody>
          <a:bodyPr wrap="square" anchor="t">
            <a:spAutoFit/>
          </a:bodyPr>
          <a:lstStyle/>
          <a:p>
            <a:pPr algn="l"/>
            <a:r>
              <a:rPr lang="en-IN" sz="4000" b="1" dirty="0">
                <a:solidFill>
                  <a:srgbClr val="1F2631"/>
                </a:solidFill>
                <a:latin typeface="Aptos"/>
              </a:rPr>
              <a:t>Trade-offs &amp; Success Metrices</a:t>
            </a:r>
            <a:endParaRPr sz="4000" b="1" dirty="0">
              <a:solidFill>
                <a:srgbClr val="1F2631"/>
              </a:solidFill>
              <a:latin typeface="Aptos"/>
            </a:endParaRPr>
          </a:p>
        </p:txBody>
      </p:sp>
      <p:sp>
        <p:nvSpPr>
          <p:cNvPr id="12" name="Rounded Rectangle 11"/>
          <p:cNvSpPr/>
          <p:nvPr/>
        </p:nvSpPr>
        <p:spPr>
          <a:xfrm>
            <a:off x="6766560" y="1418447"/>
            <a:ext cx="4434840" cy="291275"/>
          </a:xfrm>
          <a:prstGeom prst="roundRect">
            <a:avLst/>
          </a:prstGeom>
          <a:solidFill>
            <a:srgbClr val="EBF1FA"/>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b="1" dirty="0">
                <a:solidFill>
                  <a:srgbClr val="1F2631"/>
                </a:solidFill>
                <a:latin typeface="Aptos"/>
              </a:rPr>
              <a:t>Success metrices for the funnel</a:t>
            </a:r>
          </a:p>
        </p:txBody>
      </p:sp>
      <p:sp>
        <p:nvSpPr>
          <p:cNvPr id="28" name="Rounded Rectangle 27"/>
          <p:cNvSpPr/>
          <p:nvPr/>
        </p:nvSpPr>
        <p:spPr>
          <a:xfrm>
            <a:off x="6446520" y="1874519"/>
            <a:ext cx="2423160" cy="1965960"/>
          </a:xfrm>
          <a:prstGeom prst="roundRect">
            <a:avLst/>
          </a:prstGeom>
          <a:solidFill>
            <a:srgbClr val="FFFFFF"/>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446520" y="1874519"/>
            <a:ext cx="50292" cy="1965960"/>
          </a:xfrm>
          <a:prstGeom prst="rect">
            <a:avLst/>
          </a:prstGeom>
          <a:solidFill>
            <a:srgbClr val="2F5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11112" y="2002536"/>
            <a:ext cx="2148840" cy="292608"/>
          </a:xfrm>
          <a:prstGeom prst="rect">
            <a:avLst/>
          </a:prstGeom>
          <a:noFill/>
        </p:spPr>
        <p:txBody>
          <a:bodyPr wrap="square" anchor="t">
            <a:spAutoFit/>
          </a:bodyPr>
          <a:lstStyle/>
          <a:p>
            <a:pPr algn="l"/>
            <a:r>
              <a:rPr sz="1300" b="1">
                <a:solidFill>
                  <a:srgbClr val="1F2631"/>
                </a:solidFill>
                <a:latin typeface="Aptos"/>
              </a:rPr>
              <a:t>Customer</a:t>
            </a:r>
          </a:p>
        </p:txBody>
      </p:sp>
      <p:sp>
        <p:nvSpPr>
          <p:cNvPr id="31" name="TextBox 30"/>
          <p:cNvSpPr txBox="1"/>
          <p:nvPr/>
        </p:nvSpPr>
        <p:spPr>
          <a:xfrm>
            <a:off x="6611112" y="2368296"/>
            <a:ext cx="2148840" cy="1362455"/>
          </a:xfrm>
          <a:prstGeom prst="rect">
            <a:avLst/>
          </a:prstGeom>
          <a:noFill/>
        </p:spPr>
        <p:txBody>
          <a:bodyPr wrap="square" anchor="t">
            <a:spAutoFit/>
          </a:bodyPr>
          <a:lstStyle/>
          <a:p>
            <a:pPr algn="l"/>
            <a:r>
              <a:rPr sz="1030" b="0">
                <a:solidFill>
                  <a:srgbClr val="1F2631"/>
                </a:solidFill>
                <a:latin typeface="Aptos"/>
              </a:rPr>
              <a:t>Completion rate
Median time
Drop-off by step
Retry rate</a:t>
            </a:r>
          </a:p>
        </p:txBody>
      </p:sp>
      <p:sp>
        <p:nvSpPr>
          <p:cNvPr id="32" name="Rounded Rectangle 31"/>
          <p:cNvSpPr/>
          <p:nvPr/>
        </p:nvSpPr>
        <p:spPr>
          <a:xfrm>
            <a:off x="9098280" y="1874519"/>
            <a:ext cx="2423160" cy="1965960"/>
          </a:xfrm>
          <a:prstGeom prst="roundRect">
            <a:avLst/>
          </a:prstGeom>
          <a:solidFill>
            <a:srgbClr val="FFFFFF"/>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098280" y="1874519"/>
            <a:ext cx="50292" cy="1965960"/>
          </a:xfrm>
          <a:prstGeom prst="rect">
            <a:avLst/>
          </a:prstGeom>
          <a:solidFill>
            <a:srgbClr val="347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262872" y="2002536"/>
            <a:ext cx="2148840" cy="292608"/>
          </a:xfrm>
          <a:prstGeom prst="rect">
            <a:avLst/>
          </a:prstGeom>
          <a:noFill/>
        </p:spPr>
        <p:txBody>
          <a:bodyPr wrap="square" anchor="t">
            <a:spAutoFit/>
          </a:bodyPr>
          <a:lstStyle/>
          <a:p>
            <a:pPr algn="l"/>
            <a:r>
              <a:rPr sz="1300" b="1">
                <a:solidFill>
                  <a:srgbClr val="1F2631"/>
                </a:solidFill>
                <a:latin typeface="Aptos"/>
              </a:rPr>
              <a:t>Evidence</a:t>
            </a:r>
          </a:p>
        </p:txBody>
      </p:sp>
      <p:sp>
        <p:nvSpPr>
          <p:cNvPr id="35" name="TextBox 34"/>
          <p:cNvSpPr txBox="1"/>
          <p:nvPr/>
        </p:nvSpPr>
        <p:spPr>
          <a:xfrm>
            <a:off x="9262872" y="2368296"/>
            <a:ext cx="2148840" cy="1362455"/>
          </a:xfrm>
          <a:prstGeom prst="rect">
            <a:avLst/>
          </a:prstGeom>
          <a:noFill/>
        </p:spPr>
        <p:txBody>
          <a:bodyPr wrap="square" anchor="t">
            <a:spAutoFit/>
          </a:bodyPr>
          <a:lstStyle/>
          <a:p>
            <a:pPr algn="l"/>
            <a:r>
              <a:rPr sz="1030" b="0">
                <a:solidFill>
                  <a:srgbClr val="1F2631"/>
                </a:solidFill>
                <a:latin typeface="Aptos"/>
              </a:rPr>
              <a:t>First-pass acceptance
Quality failure rate
Recapture rate
Mismatch rate</a:t>
            </a:r>
          </a:p>
        </p:txBody>
      </p:sp>
      <p:sp>
        <p:nvSpPr>
          <p:cNvPr id="36" name="Rounded Rectangle 35"/>
          <p:cNvSpPr/>
          <p:nvPr/>
        </p:nvSpPr>
        <p:spPr>
          <a:xfrm>
            <a:off x="6446520" y="4096512"/>
            <a:ext cx="2423160" cy="1572768"/>
          </a:xfrm>
          <a:prstGeom prst="roundRect">
            <a:avLst/>
          </a:prstGeom>
          <a:solidFill>
            <a:srgbClr val="FFFFFF"/>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446520" y="4096512"/>
            <a:ext cx="50292" cy="1572768"/>
          </a:xfrm>
          <a:prstGeom prst="rect">
            <a:avLst/>
          </a:prstGeom>
          <a:solidFill>
            <a:srgbClr val="674E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611112" y="4224528"/>
            <a:ext cx="2148840" cy="292608"/>
          </a:xfrm>
          <a:prstGeom prst="rect">
            <a:avLst/>
          </a:prstGeom>
          <a:noFill/>
        </p:spPr>
        <p:txBody>
          <a:bodyPr wrap="square" anchor="t">
            <a:spAutoFit/>
          </a:bodyPr>
          <a:lstStyle/>
          <a:p>
            <a:pPr algn="l"/>
            <a:r>
              <a:rPr sz="1300" b="1">
                <a:solidFill>
                  <a:srgbClr val="1F2631"/>
                </a:solidFill>
                <a:latin typeface="Aptos"/>
              </a:rPr>
              <a:t>Operations</a:t>
            </a:r>
          </a:p>
        </p:txBody>
      </p:sp>
      <p:sp>
        <p:nvSpPr>
          <p:cNvPr id="39" name="TextBox 38"/>
          <p:cNvSpPr txBox="1"/>
          <p:nvPr/>
        </p:nvSpPr>
        <p:spPr>
          <a:xfrm>
            <a:off x="6611112" y="4590288"/>
            <a:ext cx="2148840" cy="969264"/>
          </a:xfrm>
          <a:prstGeom prst="rect">
            <a:avLst/>
          </a:prstGeom>
          <a:noFill/>
        </p:spPr>
        <p:txBody>
          <a:bodyPr wrap="square" anchor="t">
            <a:spAutoFit/>
          </a:bodyPr>
          <a:lstStyle/>
          <a:p>
            <a:pPr algn="l"/>
            <a:r>
              <a:rPr sz="1000" b="0">
                <a:solidFill>
                  <a:srgbClr val="1F2631"/>
                </a:solidFill>
                <a:latin typeface="Aptos"/>
              </a:rPr>
              <a:t>Manual intervention
Re-request rate
Cost / successful verification</a:t>
            </a:r>
          </a:p>
        </p:txBody>
      </p:sp>
      <p:sp>
        <p:nvSpPr>
          <p:cNvPr id="40" name="Rounded Rectangle 39"/>
          <p:cNvSpPr/>
          <p:nvPr/>
        </p:nvSpPr>
        <p:spPr>
          <a:xfrm>
            <a:off x="9098280" y="4096512"/>
            <a:ext cx="2423160" cy="1572768"/>
          </a:xfrm>
          <a:prstGeom prst="roundRect">
            <a:avLst/>
          </a:prstGeom>
          <a:solidFill>
            <a:srgbClr val="FFFFFF"/>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098280" y="4096512"/>
            <a:ext cx="50292" cy="1572768"/>
          </a:xfrm>
          <a:prstGeom prst="rect">
            <a:avLst/>
          </a:prstGeom>
          <a:solidFill>
            <a:srgbClr val="B1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262872" y="4224528"/>
            <a:ext cx="2148840" cy="292608"/>
          </a:xfrm>
          <a:prstGeom prst="rect">
            <a:avLst/>
          </a:prstGeom>
          <a:noFill/>
        </p:spPr>
        <p:txBody>
          <a:bodyPr wrap="square" anchor="t">
            <a:spAutoFit/>
          </a:bodyPr>
          <a:lstStyle/>
          <a:p>
            <a:pPr algn="l"/>
            <a:r>
              <a:rPr sz="1300" b="1">
                <a:solidFill>
                  <a:srgbClr val="1F2631"/>
                </a:solidFill>
                <a:latin typeface="Aptos"/>
              </a:rPr>
              <a:t>Risk / guardrails</a:t>
            </a:r>
          </a:p>
        </p:txBody>
      </p:sp>
      <p:sp>
        <p:nvSpPr>
          <p:cNvPr id="43" name="TextBox 42"/>
          <p:cNvSpPr txBox="1"/>
          <p:nvPr/>
        </p:nvSpPr>
        <p:spPr>
          <a:xfrm>
            <a:off x="9262872" y="4590288"/>
            <a:ext cx="2148840" cy="969264"/>
          </a:xfrm>
          <a:prstGeom prst="rect">
            <a:avLst/>
          </a:prstGeom>
          <a:noFill/>
        </p:spPr>
        <p:txBody>
          <a:bodyPr wrap="square" anchor="t">
            <a:spAutoFit/>
          </a:bodyPr>
          <a:lstStyle/>
          <a:p>
            <a:pPr algn="l"/>
            <a:r>
              <a:rPr sz="1000" b="0">
                <a:solidFill>
                  <a:srgbClr val="1F2631"/>
                </a:solidFill>
                <a:latin typeface="Aptos"/>
              </a:rPr>
              <a:t>Fraud signals
False acceptance / rejection
Privacy incidents
Device/network bias</a:t>
            </a:r>
          </a:p>
        </p:txBody>
      </p:sp>
      <p:sp>
        <p:nvSpPr>
          <p:cNvPr id="44" name="Rounded Rectangle 43"/>
          <p:cNvSpPr/>
          <p:nvPr/>
        </p:nvSpPr>
        <p:spPr>
          <a:xfrm>
            <a:off x="6446520" y="5852160"/>
            <a:ext cx="5074920" cy="438912"/>
          </a:xfrm>
          <a:prstGeom prst="roundRect">
            <a:avLst/>
          </a:prstGeom>
          <a:solidFill>
            <a:srgbClr val="1F26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583680" y="5961888"/>
            <a:ext cx="4800600" cy="182880"/>
          </a:xfrm>
          <a:prstGeom prst="rect">
            <a:avLst/>
          </a:prstGeom>
          <a:noFill/>
        </p:spPr>
        <p:txBody>
          <a:bodyPr wrap="square" anchor="t">
            <a:spAutoFit/>
          </a:bodyPr>
          <a:lstStyle/>
          <a:p>
            <a:pPr algn="ctr"/>
            <a:r>
              <a:rPr sz="1050" b="1">
                <a:solidFill>
                  <a:srgbClr val="FFFFFF"/>
                </a:solidFill>
                <a:latin typeface="Aptos"/>
              </a:rPr>
              <a:t>NORTH STAR • % verified successfully without manual intervention</a:t>
            </a:r>
          </a:p>
        </p:txBody>
      </p:sp>
      <p:sp>
        <p:nvSpPr>
          <p:cNvPr id="49" name="Rounded Rectangle 11">
            <a:extLst>
              <a:ext uri="{FF2B5EF4-FFF2-40B4-BE49-F238E27FC236}">
                <a16:creationId xmlns:a16="http://schemas.microsoft.com/office/drawing/2014/main" id="{52770F66-EB0B-1D4B-643C-8646D7A3564C}"/>
              </a:ext>
            </a:extLst>
          </p:cNvPr>
          <p:cNvSpPr/>
          <p:nvPr/>
        </p:nvSpPr>
        <p:spPr>
          <a:xfrm>
            <a:off x="757646" y="1425209"/>
            <a:ext cx="4434840" cy="291275"/>
          </a:xfrm>
          <a:prstGeom prst="roundRect">
            <a:avLst/>
          </a:prstGeom>
          <a:solidFill>
            <a:srgbClr val="EBF1FA"/>
          </a:solidFill>
          <a:ln>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b="1" dirty="0">
                <a:solidFill>
                  <a:srgbClr val="1F2631"/>
                </a:solidFill>
                <a:latin typeface="Aptos"/>
              </a:rPr>
              <a:t>Trade-offs for the funnel</a:t>
            </a:r>
          </a:p>
        </p:txBody>
      </p:sp>
      <p:graphicFrame>
        <p:nvGraphicFramePr>
          <p:cNvPr id="3" name="Table 2">
            <a:extLst>
              <a:ext uri="{FF2B5EF4-FFF2-40B4-BE49-F238E27FC236}">
                <a16:creationId xmlns:a16="http://schemas.microsoft.com/office/drawing/2014/main" id="{40540338-0034-3E8C-7932-3F96DF35AB70}"/>
              </a:ext>
            </a:extLst>
          </p:cNvPr>
          <p:cNvGraphicFramePr>
            <a:graphicFrameLocks noGrp="1"/>
          </p:cNvGraphicFramePr>
          <p:nvPr>
            <p:extLst>
              <p:ext uri="{D42A27DB-BD31-4B8C-83A1-F6EECF244321}">
                <p14:modId xmlns:p14="http://schemas.microsoft.com/office/powerpoint/2010/main" val="2759479135"/>
              </p:ext>
            </p:extLst>
          </p:nvPr>
        </p:nvGraphicFramePr>
        <p:xfrm>
          <a:off x="268514" y="1843071"/>
          <a:ext cx="5827485" cy="4675538"/>
        </p:xfrm>
        <a:graphic>
          <a:graphicData uri="http://schemas.openxmlformats.org/drawingml/2006/table">
            <a:tbl>
              <a:tblPr firstRow="1" bandRow="1">
                <a:tableStyleId>{3B4B98B0-60AC-42C2-AFA5-B58CD77FA1E5}</a:tableStyleId>
              </a:tblPr>
              <a:tblGrid>
                <a:gridCol w="1942495">
                  <a:extLst>
                    <a:ext uri="{9D8B030D-6E8A-4147-A177-3AD203B41FA5}">
                      <a16:colId xmlns:a16="http://schemas.microsoft.com/office/drawing/2014/main" val="1534937216"/>
                    </a:ext>
                  </a:extLst>
                </a:gridCol>
                <a:gridCol w="1942495">
                  <a:extLst>
                    <a:ext uri="{9D8B030D-6E8A-4147-A177-3AD203B41FA5}">
                      <a16:colId xmlns:a16="http://schemas.microsoft.com/office/drawing/2014/main" val="390089425"/>
                    </a:ext>
                  </a:extLst>
                </a:gridCol>
                <a:gridCol w="1942495">
                  <a:extLst>
                    <a:ext uri="{9D8B030D-6E8A-4147-A177-3AD203B41FA5}">
                      <a16:colId xmlns:a16="http://schemas.microsoft.com/office/drawing/2014/main" val="879034260"/>
                    </a:ext>
                  </a:extLst>
                </a:gridCol>
              </a:tblGrid>
              <a:tr h="355843">
                <a:tc>
                  <a:txBody>
                    <a:bodyPr/>
                    <a:lstStyle/>
                    <a:p>
                      <a:r>
                        <a:rPr lang="en-US" sz="1400" dirty="0"/>
                        <a:t>Decision area</a:t>
                      </a:r>
                      <a:endParaRPr lang="en-IN" sz="1400" dirty="0"/>
                    </a:p>
                  </a:txBody>
                  <a:tcPr/>
                </a:tc>
                <a:tc>
                  <a:txBody>
                    <a:bodyPr/>
                    <a:lstStyle/>
                    <a:p>
                      <a:r>
                        <a:rPr lang="en-US" sz="1400" dirty="0"/>
                        <a:t>What we gain</a:t>
                      </a:r>
                      <a:endParaRPr lang="en-IN" sz="1400" dirty="0"/>
                    </a:p>
                  </a:txBody>
                  <a:tcPr/>
                </a:tc>
                <a:tc>
                  <a:txBody>
                    <a:bodyPr/>
                    <a:lstStyle/>
                    <a:p>
                      <a:r>
                        <a:rPr lang="en-IN" sz="1400" dirty="0"/>
                        <a:t>What we risk</a:t>
                      </a:r>
                    </a:p>
                  </a:txBody>
                  <a:tcPr/>
                </a:tc>
                <a:extLst>
                  <a:ext uri="{0D108BD9-81ED-4DB2-BD59-A6C34878D82A}">
                    <a16:rowId xmlns:a16="http://schemas.microsoft.com/office/drawing/2014/main" val="1269628202"/>
                  </a:ext>
                </a:extLst>
              </a:tr>
              <a:tr h="686574">
                <a:tc>
                  <a:txBody>
                    <a:bodyPr/>
                    <a:lstStyle/>
                    <a:p>
                      <a:r>
                        <a:rPr lang="en-US" sz="1200" dirty="0"/>
                        <a:t>Number of captures</a:t>
                      </a:r>
                      <a:endParaRPr lang="en-IN" sz="1200" dirty="0"/>
                    </a:p>
                  </a:txBody>
                  <a:tcPr/>
                </a:tc>
                <a:tc>
                  <a:txBody>
                    <a:bodyPr/>
                    <a:lstStyle/>
                    <a:p>
                      <a:r>
                        <a:rPr lang="en-US" sz="1200" dirty="0"/>
                        <a:t>Higher evidence quality, better decision confidence</a:t>
                      </a:r>
                      <a:endParaRPr lang="en-IN" sz="1200" dirty="0"/>
                    </a:p>
                  </a:txBody>
                  <a:tcPr/>
                </a:tc>
                <a:tc>
                  <a:txBody>
                    <a:bodyPr/>
                    <a:lstStyle/>
                    <a:p>
                      <a:r>
                        <a:rPr lang="en-US" sz="1200" dirty="0"/>
                        <a:t>Higher drop-off, longer time, privacy concerns</a:t>
                      </a:r>
                      <a:endParaRPr lang="en-IN" sz="1200" dirty="0"/>
                    </a:p>
                  </a:txBody>
                  <a:tcPr/>
                </a:tc>
                <a:extLst>
                  <a:ext uri="{0D108BD9-81ED-4DB2-BD59-A6C34878D82A}">
                    <a16:rowId xmlns:a16="http://schemas.microsoft.com/office/drawing/2014/main" val="3310071196"/>
                  </a:ext>
                </a:extLst>
              </a:tr>
              <a:tr h="686574">
                <a:tc>
                  <a:txBody>
                    <a:bodyPr/>
                    <a:lstStyle/>
                    <a:p>
                      <a:r>
                        <a:rPr lang="en-IN" sz="1200" dirty="0"/>
                        <a:t>Strictness of real-time quality checks.</a:t>
                      </a:r>
                    </a:p>
                  </a:txBody>
                  <a:tcPr/>
                </a:tc>
                <a:tc>
                  <a:txBody>
                    <a:bodyPr/>
                    <a:lstStyle/>
                    <a:p>
                      <a:r>
                        <a:rPr lang="en-US" sz="1200" dirty="0"/>
                        <a:t>Fewer poor submissions, less rework</a:t>
                      </a:r>
                      <a:endParaRPr lang="en-IN" sz="1200" dirty="0"/>
                    </a:p>
                  </a:txBody>
                  <a:tcPr/>
                </a:tc>
                <a:tc>
                  <a:txBody>
                    <a:bodyPr/>
                    <a:lstStyle/>
                    <a:p>
                      <a:r>
                        <a:rPr lang="en-US" sz="1200" dirty="0"/>
                        <a:t>Frustration if too strict, false rejections</a:t>
                      </a:r>
                      <a:endParaRPr lang="en-IN" sz="1200" dirty="0"/>
                    </a:p>
                  </a:txBody>
                  <a:tcPr/>
                </a:tc>
                <a:extLst>
                  <a:ext uri="{0D108BD9-81ED-4DB2-BD59-A6C34878D82A}">
                    <a16:rowId xmlns:a16="http://schemas.microsoft.com/office/drawing/2014/main" val="1842755928"/>
                  </a:ext>
                </a:extLst>
              </a:tr>
              <a:tr h="886825">
                <a:tc>
                  <a:txBody>
                    <a:bodyPr/>
                    <a:lstStyle/>
                    <a:p>
                      <a:r>
                        <a:rPr lang="en-IN" sz="1200" dirty="0"/>
                        <a:t>Location verification(GPS/Wi-Fi)</a:t>
                      </a:r>
                    </a:p>
                  </a:txBody>
                  <a:tcPr/>
                </a:tc>
                <a:tc>
                  <a:txBody>
                    <a:bodyPr/>
                    <a:lstStyle/>
                    <a:p>
                      <a:r>
                        <a:rPr lang="en-US" sz="1200" dirty="0"/>
                        <a:t>Stronger proof of being at declared premises</a:t>
                      </a:r>
                      <a:endParaRPr lang="en-IN" sz="1200" dirty="0"/>
                    </a:p>
                  </a:txBody>
                  <a:tcPr/>
                </a:tc>
                <a:tc>
                  <a:txBody>
                    <a:bodyPr/>
                    <a:lstStyle/>
                    <a:p>
                      <a:r>
                        <a:rPr lang="en-US" sz="1200" dirty="0"/>
                        <a:t>Permission drop-off, excludes some valid users(e.g. indoor / weak GPS)</a:t>
                      </a:r>
                      <a:endParaRPr lang="en-IN" sz="1200" dirty="0"/>
                    </a:p>
                  </a:txBody>
                  <a:tcPr/>
                </a:tc>
                <a:extLst>
                  <a:ext uri="{0D108BD9-81ED-4DB2-BD59-A6C34878D82A}">
                    <a16:rowId xmlns:a16="http://schemas.microsoft.com/office/drawing/2014/main" val="1179037992"/>
                  </a:ext>
                </a:extLst>
              </a:tr>
              <a:tr h="886825">
                <a:tc>
                  <a:txBody>
                    <a:bodyPr/>
                    <a:lstStyle/>
                    <a:p>
                      <a:r>
                        <a:rPr lang="en-IN" sz="1200" dirty="0"/>
                        <a:t>Fraud detection depth(on device)</a:t>
                      </a:r>
                    </a:p>
                  </a:txBody>
                  <a:tcPr/>
                </a:tc>
                <a:tc>
                  <a:txBody>
                    <a:bodyPr/>
                    <a:lstStyle/>
                    <a:p>
                      <a:r>
                        <a:rPr lang="en-US" sz="1200" dirty="0"/>
                        <a:t>Harder to spoof, higher trust</a:t>
                      </a:r>
                      <a:endParaRPr lang="en-IN" sz="1200" dirty="0"/>
                    </a:p>
                  </a:txBody>
                  <a:tcPr/>
                </a:tc>
                <a:tc>
                  <a:txBody>
                    <a:bodyPr/>
                    <a:lstStyle/>
                    <a:p>
                      <a:r>
                        <a:rPr lang="en-US" sz="1200" dirty="0"/>
                        <a:t>Higher complexity, may slow down genuine users on low-end devices</a:t>
                      </a:r>
                      <a:endParaRPr lang="en-IN" sz="1200" dirty="0"/>
                    </a:p>
                  </a:txBody>
                  <a:tcPr/>
                </a:tc>
                <a:extLst>
                  <a:ext uri="{0D108BD9-81ED-4DB2-BD59-A6C34878D82A}">
                    <a16:rowId xmlns:a16="http://schemas.microsoft.com/office/drawing/2014/main" val="798300825"/>
                  </a:ext>
                </a:extLst>
              </a:tr>
              <a:tr h="486323">
                <a:tc>
                  <a:txBody>
                    <a:bodyPr/>
                    <a:lstStyle/>
                    <a:p>
                      <a:r>
                        <a:rPr lang="en-IN" sz="1200" dirty="0"/>
                        <a:t>User guidance vs. user freedom</a:t>
                      </a:r>
                    </a:p>
                  </a:txBody>
                  <a:tcPr/>
                </a:tc>
                <a:tc>
                  <a:txBody>
                    <a:bodyPr/>
                    <a:lstStyle/>
                    <a:p>
                      <a:r>
                        <a:rPr lang="en-US" sz="1200" dirty="0"/>
                        <a:t>Better completion &amp;correct captures</a:t>
                      </a:r>
                      <a:endParaRPr lang="en-IN" sz="1200" dirty="0"/>
                    </a:p>
                  </a:txBody>
                  <a:tcPr/>
                </a:tc>
                <a:tc>
                  <a:txBody>
                    <a:bodyPr/>
                    <a:lstStyle/>
                    <a:p>
                      <a:r>
                        <a:rPr lang="en-US" sz="1200" dirty="0"/>
                        <a:t>Over-guidance can feel intrusive or restrictive</a:t>
                      </a:r>
                      <a:endParaRPr lang="en-IN" sz="1200" dirty="0"/>
                    </a:p>
                  </a:txBody>
                  <a:tcPr/>
                </a:tc>
                <a:extLst>
                  <a:ext uri="{0D108BD9-81ED-4DB2-BD59-A6C34878D82A}">
                    <a16:rowId xmlns:a16="http://schemas.microsoft.com/office/drawing/2014/main" val="2330498140"/>
                  </a:ext>
                </a:extLst>
              </a:tr>
              <a:tr h="686574">
                <a:tc>
                  <a:txBody>
                    <a:bodyPr/>
                    <a:lstStyle/>
                    <a:p>
                      <a:r>
                        <a:rPr lang="en-IN" sz="1200" dirty="0"/>
                        <a:t>Manual fallback</a:t>
                      </a:r>
                    </a:p>
                  </a:txBody>
                  <a:tcPr/>
                </a:tc>
                <a:tc>
                  <a:txBody>
                    <a:bodyPr/>
                    <a:lstStyle/>
                    <a:p>
                      <a:r>
                        <a:rPr lang="en-US" sz="1200" dirty="0"/>
                        <a:t>Rescues genuine edge cases, better overall completion</a:t>
                      </a:r>
                      <a:endParaRPr lang="en-IN" sz="1200" dirty="0"/>
                    </a:p>
                  </a:txBody>
                  <a:tcPr/>
                </a:tc>
                <a:tc>
                  <a:txBody>
                    <a:bodyPr/>
                    <a:lstStyle/>
                    <a:p>
                      <a:r>
                        <a:rPr lang="en-US" sz="1200" dirty="0"/>
                        <a:t>Adds operational effort, goes against no-manual goal</a:t>
                      </a:r>
                      <a:endParaRPr lang="en-IN" sz="1200" dirty="0"/>
                    </a:p>
                  </a:txBody>
                  <a:tcPr/>
                </a:tc>
                <a:extLst>
                  <a:ext uri="{0D108BD9-81ED-4DB2-BD59-A6C34878D82A}">
                    <a16:rowId xmlns:a16="http://schemas.microsoft.com/office/drawing/2014/main" val="311348823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713232"/>
            <a:ext cx="10972800" cy="492443"/>
          </a:xfrm>
          <a:prstGeom prst="rect">
            <a:avLst/>
          </a:prstGeom>
          <a:noFill/>
        </p:spPr>
        <p:txBody>
          <a:bodyPr wrap="square" anchor="t">
            <a:spAutoFit/>
          </a:bodyPr>
          <a:lstStyle/>
          <a:p>
            <a:pPr algn="l"/>
            <a:r>
              <a:rPr lang="en-IN" sz="2600" b="1" dirty="0">
                <a:solidFill>
                  <a:srgbClr val="1F2631"/>
                </a:solidFill>
                <a:latin typeface="Aptos"/>
              </a:rPr>
              <a:t>Rollout</a:t>
            </a:r>
            <a:endParaRPr sz="2600" b="1" dirty="0">
              <a:solidFill>
                <a:srgbClr val="1F2631"/>
              </a:solidFill>
              <a:latin typeface="Aptos"/>
            </a:endParaRPr>
          </a:p>
        </p:txBody>
      </p:sp>
      <p:sp>
        <p:nvSpPr>
          <p:cNvPr id="6" name="TextBox 5"/>
          <p:cNvSpPr txBox="1"/>
          <p:nvPr/>
        </p:nvSpPr>
        <p:spPr>
          <a:xfrm>
            <a:off x="621792" y="1307592"/>
            <a:ext cx="10972800" cy="393192"/>
          </a:xfrm>
          <a:prstGeom prst="rect">
            <a:avLst/>
          </a:prstGeom>
          <a:noFill/>
        </p:spPr>
        <p:txBody>
          <a:bodyPr wrap="square" anchor="t">
            <a:spAutoFit/>
          </a:bodyPr>
          <a:lstStyle/>
          <a:p>
            <a:pPr algn="l"/>
            <a:r>
              <a:rPr sz="1250" b="0">
                <a:solidFill>
                  <a:srgbClr val="525B69"/>
                </a:solidFill>
                <a:latin typeface="Aptos"/>
              </a:rPr>
              <a:t>The biggest unknowns: where genuine customers fail, what evidence is sufficient, and which checks add confidence without harmful friction.</a:t>
            </a:r>
          </a:p>
        </p:txBody>
      </p:sp>
      <p:sp>
        <p:nvSpPr>
          <p:cNvPr id="7" name="TextBox 6"/>
          <p:cNvSpPr txBox="1"/>
          <p:nvPr/>
        </p:nvSpPr>
        <p:spPr>
          <a:xfrm>
            <a:off x="621792" y="1847088"/>
            <a:ext cx="5212080" cy="228600"/>
          </a:xfrm>
          <a:prstGeom prst="rect">
            <a:avLst/>
          </a:prstGeom>
          <a:noFill/>
        </p:spPr>
        <p:txBody>
          <a:bodyPr wrap="square" anchor="t">
            <a:spAutoFit/>
          </a:bodyPr>
          <a:lstStyle/>
          <a:p>
            <a:pPr algn="l"/>
            <a:r>
              <a:rPr sz="1000" b="1">
                <a:solidFill>
                  <a:srgbClr val="525B69"/>
                </a:solidFill>
                <a:latin typeface="Aptos"/>
              </a:rPr>
              <a:t>ROLLOUT</a:t>
            </a:r>
          </a:p>
        </p:txBody>
      </p:sp>
      <p:sp>
        <p:nvSpPr>
          <p:cNvPr id="8" name="Oval 7"/>
          <p:cNvSpPr/>
          <p:nvPr/>
        </p:nvSpPr>
        <p:spPr>
          <a:xfrm>
            <a:off x="621792" y="2221992"/>
            <a:ext cx="411480" cy="411480"/>
          </a:xfrm>
          <a:prstGeom prst="ellipse">
            <a:avLst/>
          </a:prstGeom>
          <a:solidFill>
            <a:srgbClr val="2F5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2313432"/>
            <a:ext cx="411480" cy="164592"/>
          </a:xfrm>
          <a:prstGeom prst="rect">
            <a:avLst/>
          </a:prstGeom>
          <a:noFill/>
        </p:spPr>
        <p:txBody>
          <a:bodyPr wrap="square" anchor="t">
            <a:spAutoFit/>
          </a:bodyPr>
          <a:lstStyle/>
          <a:p>
            <a:pPr algn="ctr"/>
            <a:r>
              <a:rPr sz="900" b="1">
                <a:solidFill>
                  <a:srgbClr val="FFFFFF"/>
                </a:solidFill>
                <a:latin typeface="Aptos"/>
              </a:rPr>
              <a:t>1</a:t>
            </a:r>
          </a:p>
        </p:txBody>
      </p:sp>
      <p:sp>
        <p:nvSpPr>
          <p:cNvPr id="10" name="TextBox 9"/>
          <p:cNvSpPr txBox="1"/>
          <p:nvPr/>
        </p:nvSpPr>
        <p:spPr>
          <a:xfrm>
            <a:off x="1152144" y="2221992"/>
            <a:ext cx="1097280" cy="228600"/>
          </a:xfrm>
          <a:prstGeom prst="rect">
            <a:avLst/>
          </a:prstGeom>
          <a:noFill/>
        </p:spPr>
        <p:txBody>
          <a:bodyPr wrap="square" anchor="t">
            <a:spAutoFit/>
          </a:bodyPr>
          <a:lstStyle/>
          <a:p>
            <a:pPr algn="l"/>
            <a:r>
              <a:rPr sz="1150" b="1">
                <a:solidFill>
                  <a:srgbClr val="1F2631"/>
                </a:solidFill>
                <a:latin typeface="Aptos"/>
              </a:rPr>
              <a:t>Pilot</a:t>
            </a:r>
          </a:p>
        </p:txBody>
      </p:sp>
      <p:sp>
        <p:nvSpPr>
          <p:cNvPr id="11" name="TextBox 10"/>
          <p:cNvSpPr txBox="1"/>
          <p:nvPr/>
        </p:nvSpPr>
        <p:spPr>
          <a:xfrm>
            <a:off x="1152144" y="2542032"/>
            <a:ext cx="1143000" cy="658368"/>
          </a:xfrm>
          <a:prstGeom prst="rect">
            <a:avLst/>
          </a:prstGeom>
          <a:noFill/>
        </p:spPr>
        <p:txBody>
          <a:bodyPr wrap="square" anchor="t">
            <a:spAutoFit/>
          </a:bodyPr>
          <a:lstStyle/>
          <a:p>
            <a:pPr algn="l"/>
            <a:r>
              <a:rPr sz="900" b="0">
                <a:solidFill>
                  <a:srgbClr val="525B69"/>
                </a:solidFill>
                <a:latin typeface="Aptos"/>
              </a:rPr>
              <a:t>Salaried residential
Controlled cohort
Instrument every step</a:t>
            </a:r>
          </a:p>
        </p:txBody>
      </p:sp>
      <p:cxnSp>
        <p:nvCxnSpPr>
          <p:cNvPr id="12" name="Connector 11"/>
          <p:cNvCxnSpPr/>
          <p:nvPr/>
        </p:nvCxnSpPr>
        <p:spPr>
          <a:xfrm>
            <a:off x="1947672" y="2423160"/>
            <a:ext cx="320040" cy="0"/>
          </a:xfrm>
          <a:prstGeom prst="line">
            <a:avLst/>
          </a:prstGeom>
          <a:ln w="25400">
            <a:solidFill>
              <a:srgbClr val="DADEE5"/>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404872" y="2221992"/>
            <a:ext cx="411480" cy="411480"/>
          </a:xfrm>
          <a:prstGeom prst="ellipse">
            <a:avLst/>
          </a:prstGeom>
          <a:solidFill>
            <a:srgbClr val="2A89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04872" y="2313432"/>
            <a:ext cx="411480" cy="164592"/>
          </a:xfrm>
          <a:prstGeom prst="rect">
            <a:avLst/>
          </a:prstGeom>
          <a:noFill/>
        </p:spPr>
        <p:txBody>
          <a:bodyPr wrap="square" anchor="t">
            <a:spAutoFit/>
          </a:bodyPr>
          <a:lstStyle/>
          <a:p>
            <a:pPr algn="ctr"/>
            <a:r>
              <a:rPr sz="900" b="1">
                <a:solidFill>
                  <a:srgbClr val="FFFFFF"/>
                </a:solidFill>
                <a:latin typeface="Aptos"/>
              </a:rPr>
              <a:t>2</a:t>
            </a:r>
          </a:p>
        </p:txBody>
      </p:sp>
      <p:sp>
        <p:nvSpPr>
          <p:cNvPr id="15" name="TextBox 14"/>
          <p:cNvSpPr txBox="1"/>
          <p:nvPr/>
        </p:nvSpPr>
        <p:spPr>
          <a:xfrm>
            <a:off x="2935224" y="2221992"/>
            <a:ext cx="1097280" cy="228600"/>
          </a:xfrm>
          <a:prstGeom prst="rect">
            <a:avLst/>
          </a:prstGeom>
          <a:noFill/>
        </p:spPr>
        <p:txBody>
          <a:bodyPr wrap="square" anchor="t">
            <a:spAutoFit/>
          </a:bodyPr>
          <a:lstStyle/>
          <a:p>
            <a:pPr algn="l"/>
            <a:r>
              <a:rPr sz="1150" b="1">
                <a:solidFill>
                  <a:srgbClr val="1F2631"/>
                </a:solidFill>
                <a:latin typeface="Aptos"/>
              </a:rPr>
              <a:t>Expand</a:t>
            </a:r>
          </a:p>
        </p:txBody>
      </p:sp>
      <p:sp>
        <p:nvSpPr>
          <p:cNvPr id="16" name="TextBox 15"/>
          <p:cNvSpPr txBox="1"/>
          <p:nvPr/>
        </p:nvSpPr>
        <p:spPr>
          <a:xfrm>
            <a:off x="2935224" y="2542032"/>
            <a:ext cx="1143000" cy="658368"/>
          </a:xfrm>
          <a:prstGeom prst="rect">
            <a:avLst/>
          </a:prstGeom>
          <a:noFill/>
        </p:spPr>
        <p:txBody>
          <a:bodyPr wrap="square" anchor="t">
            <a:spAutoFit/>
          </a:bodyPr>
          <a:lstStyle/>
          <a:p>
            <a:pPr algn="l"/>
            <a:r>
              <a:rPr sz="900" b="0">
                <a:solidFill>
                  <a:srgbClr val="525B69"/>
                </a:solidFill>
                <a:latin typeface="Aptos"/>
              </a:rPr>
              <a:t>WFH + self-employed
Test network / device mix</a:t>
            </a:r>
          </a:p>
        </p:txBody>
      </p:sp>
      <p:cxnSp>
        <p:nvCxnSpPr>
          <p:cNvPr id="17" name="Connector 16"/>
          <p:cNvCxnSpPr/>
          <p:nvPr/>
        </p:nvCxnSpPr>
        <p:spPr>
          <a:xfrm>
            <a:off x="3730752" y="2423160"/>
            <a:ext cx="320039" cy="0"/>
          </a:xfrm>
          <a:prstGeom prst="line">
            <a:avLst/>
          </a:prstGeom>
          <a:ln w="25400">
            <a:solidFill>
              <a:srgbClr val="DADEE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4187952" y="2221992"/>
            <a:ext cx="411480" cy="411480"/>
          </a:xfrm>
          <a:prstGeom prst="ellipse">
            <a:avLst/>
          </a:prstGeom>
          <a:solidFill>
            <a:srgbClr val="674E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87952" y="2313432"/>
            <a:ext cx="411480" cy="164592"/>
          </a:xfrm>
          <a:prstGeom prst="rect">
            <a:avLst/>
          </a:prstGeom>
          <a:noFill/>
        </p:spPr>
        <p:txBody>
          <a:bodyPr wrap="square" anchor="t">
            <a:spAutoFit/>
          </a:bodyPr>
          <a:lstStyle/>
          <a:p>
            <a:pPr algn="ctr"/>
            <a:r>
              <a:rPr sz="900" b="1">
                <a:solidFill>
                  <a:srgbClr val="FFFFFF"/>
                </a:solidFill>
                <a:latin typeface="Aptos"/>
              </a:rPr>
              <a:t>3</a:t>
            </a:r>
          </a:p>
        </p:txBody>
      </p:sp>
      <p:sp>
        <p:nvSpPr>
          <p:cNvPr id="20" name="TextBox 19"/>
          <p:cNvSpPr txBox="1"/>
          <p:nvPr/>
        </p:nvSpPr>
        <p:spPr>
          <a:xfrm>
            <a:off x="4718304" y="2221992"/>
            <a:ext cx="1097280" cy="228600"/>
          </a:xfrm>
          <a:prstGeom prst="rect">
            <a:avLst/>
          </a:prstGeom>
          <a:noFill/>
        </p:spPr>
        <p:txBody>
          <a:bodyPr wrap="square" anchor="t">
            <a:spAutoFit/>
          </a:bodyPr>
          <a:lstStyle/>
          <a:p>
            <a:pPr algn="l"/>
            <a:r>
              <a:rPr sz="1150" b="1">
                <a:solidFill>
                  <a:srgbClr val="1F2631"/>
                </a:solidFill>
                <a:latin typeface="Aptos"/>
              </a:rPr>
              <a:t>Scale</a:t>
            </a:r>
          </a:p>
        </p:txBody>
      </p:sp>
      <p:sp>
        <p:nvSpPr>
          <p:cNvPr id="21" name="TextBox 20"/>
          <p:cNvSpPr txBox="1"/>
          <p:nvPr/>
        </p:nvSpPr>
        <p:spPr>
          <a:xfrm>
            <a:off x="4718304" y="2542032"/>
            <a:ext cx="1143000" cy="658368"/>
          </a:xfrm>
          <a:prstGeom prst="rect">
            <a:avLst/>
          </a:prstGeom>
          <a:noFill/>
        </p:spPr>
        <p:txBody>
          <a:bodyPr wrap="square" anchor="t">
            <a:spAutoFit/>
          </a:bodyPr>
          <a:lstStyle/>
          <a:p>
            <a:pPr algn="l"/>
            <a:r>
              <a:rPr sz="900" b="0">
                <a:solidFill>
                  <a:srgbClr val="525B69"/>
                </a:solidFill>
                <a:latin typeface="Aptos"/>
              </a:rPr>
              <a:t>Broader contexts
Tune risk + cost + latency</a:t>
            </a:r>
          </a:p>
        </p:txBody>
      </p:sp>
      <p:sp>
        <p:nvSpPr>
          <p:cNvPr id="22" name="TextBox 21"/>
          <p:cNvSpPr txBox="1"/>
          <p:nvPr/>
        </p:nvSpPr>
        <p:spPr>
          <a:xfrm>
            <a:off x="621792" y="3493008"/>
            <a:ext cx="10972800" cy="228600"/>
          </a:xfrm>
          <a:prstGeom prst="rect">
            <a:avLst/>
          </a:prstGeom>
          <a:noFill/>
        </p:spPr>
        <p:txBody>
          <a:bodyPr wrap="square" anchor="t">
            <a:spAutoFit/>
          </a:bodyPr>
          <a:lstStyle/>
          <a:p>
            <a:pPr algn="l"/>
            <a:r>
              <a:rPr sz="1000" b="1">
                <a:solidFill>
                  <a:srgbClr val="525B69"/>
                </a:solidFill>
                <a:latin typeface="Aptos"/>
              </a:rPr>
              <a:t>EXPERIMENTS BEFORE SCALE</a:t>
            </a:r>
          </a:p>
        </p:txBody>
      </p:sp>
      <p:sp>
        <p:nvSpPr>
          <p:cNvPr id="23" name="Rectangle 22"/>
          <p:cNvSpPr/>
          <p:nvPr/>
        </p:nvSpPr>
        <p:spPr>
          <a:xfrm>
            <a:off x="621792" y="3813048"/>
            <a:ext cx="1965960" cy="393192"/>
          </a:xfrm>
          <a:prstGeom prst="rect">
            <a:avLst/>
          </a:prstGeom>
          <a:solidFill>
            <a:srgbClr val="1F26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3904487"/>
            <a:ext cx="1837943" cy="155448"/>
          </a:xfrm>
          <a:prstGeom prst="rect">
            <a:avLst/>
          </a:prstGeom>
          <a:noFill/>
        </p:spPr>
        <p:txBody>
          <a:bodyPr wrap="square" anchor="t">
            <a:spAutoFit/>
          </a:bodyPr>
          <a:lstStyle/>
          <a:p>
            <a:pPr algn="l"/>
            <a:r>
              <a:rPr sz="900" b="1">
                <a:solidFill>
                  <a:srgbClr val="FFFFFF"/>
                </a:solidFill>
                <a:latin typeface="Aptos"/>
              </a:rPr>
              <a:t>Question</a:t>
            </a:r>
          </a:p>
        </p:txBody>
      </p:sp>
      <p:sp>
        <p:nvSpPr>
          <p:cNvPr id="25" name="Rectangle 24"/>
          <p:cNvSpPr/>
          <p:nvPr/>
        </p:nvSpPr>
        <p:spPr>
          <a:xfrm>
            <a:off x="2743200" y="3813048"/>
            <a:ext cx="2788920" cy="393192"/>
          </a:xfrm>
          <a:prstGeom prst="rect">
            <a:avLst/>
          </a:prstGeom>
          <a:solidFill>
            <a:srgbClr val="1F26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807208" y="3904487"/>
            <a:ext cx="2660903" cy="155448"/>
          </a:xfrm>
          <a:prstGeom prst="rect">
            <a:avLst/>
          </a:prstGeom>
          <a:noFill/>
        </p:spPr>
        <p:txBody>
          <a:bodyPr wrap="square" anchor="t">
            <a:spAutoFit/>
          </a:bodyPr>
          <a:lstStyle/>
          <a:p>
            <a:pPr algn="l"/>
            <a:r>
              <a:rPr sz="900" b="1">
                <a:solidFill>
                  <a:srgbClr val="FFFFFF"/>
                </a:solidFill>
                <a:latin typeface="Aptos"/>
              </a:rPr>
              <a:t>A / B</a:t>
            </a:r>
          </a:p>
        </p:txBody>
      </p:sp>
      <p:sp>
        <p:nvSpPr>
          <p:cNvPr id="27" name="Rectangle 26"/>
          <p:cNvSpPr/>
          <p:nvPr/>
        </p:nvSpPr>
        <p:spPr>
          <a:xfrm>
            <a:off x="5623560" y="3813048"/>
            <a:ext cx="2651760" cy="393192"/>
          </a:xfrm>
          <a:prstGeom prst="rect">
            <a:avLst/>
          </a:prstGeom>
          <a:solidFill>
            <a:srgbClr val="1F26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687568" y="3904487"/>
            <a:ext cx="2523744" cy="155448"/>
          </a:xfrm>
          <a:prstGeom prst="rect">
            <a:avLst/>
          </a:prstGeom>
          <a:noFill/>
        </p:spPr>
        <p:txBody>
          <a:bodyPr wrap="square" anchor="t">
            <a:spAutoFit/>
          </a:bodyPr>
          <a:lstStyle/>
          <a:p>
            <a:pPr algn="l"/>
            <a:r>
              <a:rPr sz="900" b="1">
                <a:solidFill>
                  <a:srgbClr val="FFFFFF"/>
                </a:solidFill>
                <a:latin typeface="Aptos"/>
              </a:rPr>
              <a:t>Success signal</a:t>
            </a:r>
          </a:p>
        </p:txBody>
      </p:sp>
      <p:sp>
        <p:nvSpPr>
          <p:cNvPr id="29" name="Rectangle 28"/>
          <p:cNvSpPr/>
          <p:nvPr/>
        </p:nvSpPr>
        <p:spPr>
          <a:xfrm>
            <a:off x="8366760" y="3813048"/>
            <a:ext cx="3246120" cy="393192"/>
          </a:xfrm>
          <a:prstGeom prst="rect">
            <a:avLst/>
          </a:prstGeom>
          <a:solidFill>
            <a:srgbClr val="1F26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430768" y="3904487"/>
            <a:ext cx="3118103" cy="155448"/>
          </a:xfrm>
          <a:prstGeom prst="rect">
            <a:avLst/>
          </a:prstGeom>
          <a:noFill/>
        </p:spPr>
        <p:txBody>
          <a:bodyPr wrap="square" anchor="t">
            <a:spAutoFit/>
          </a:bodyPr>
          <a:lstStyle/>
          <a:p>
            <a:pPr algn="l"/>
            <a:r>
              <a:rPr sz="900" b="1">
                <a:solidFill>
                  <a:srgbClr val="FFFFFF"/>
                </a:solidFill>
                <a:latin typeface="Aptos"/>
              </a:rPr>
              <a:t>Decision</a:t>
            </a:r>
          </a:p>
        </p:txBody>
      </p:sp>
      <p:sp>
        <p:nvSpPr>
          <p:cNvPr id="31" name="Rectangle 30"/>
          <p:cNvSpPr/>
          <p:nvPr/>
        </p:nvSpPr>
        <p:spPr>
          <a:xfrm>
            <a:off x="621792" y="4206240"/>
            <a:ext cx="1965960" cy="502920"/>
          </a:xfrm>
          <a:prstGeom prst="rect">
            <a:avLst/>
          </a:prstGeom>
          <a:solidFill>
            <a:srgbClr val="FAFAF8"/>
          </a:solidFill>
          <a:ln w="6350">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5800" y="4279392"/>
            <a:ext cx="1837943" cy="347472"/>
          </a:xfrm>
          <a:prstGeom prst="rect">
            <a:avLst/>
          </a:prstGeom>
          <a:noFill/>
        </p:spPr>
        <p:txBody>
          <a:bodyPr wrap="square" anchor="t">
            <a:spAutoFit/>
          </a:bodyPr>
          <a:lstStyle/>
          <a:p>
            <a:pPr algn="l"/>
            <a:r>
              <a:rPr sz="890" b="0">
                <a:solidFill>
                  <a:srgbClr val="1F2631"/>
                </a:solidFill>
                <a:latin typeface="Aptos"/>
              </a:rPr>
              <a:t>Does guidance help?</a:t>
            </a:r>
          </a:p>
        </p:txBody>
      </p:sp>
      <p:sp>
        <p:nvSpPr>
          <p:cNvPr id="33" name="Rectangle 32"/>
          <p:cNvSpPr/>
          <p:nvPr/>
        </p:nvSpPr>
        <p:spPr>
          <a:xfrm>
            <a:off x="2743200" y="4206240"/>
            <a:ext cx="2788920" cy="502920"/>
          </a:xfrm>
          <a:prstGeom prst="rect">
            <a:avLst/>
          </a:prstGeom>
          <a:solidFill>
            <a:srgbClr val="FAFAF8"/>
          </a:solidFill>
          <a:ln w="6350">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807208" y="4279392"/>
            <a:ext cx="2660903" cy="347472"/>
          </a:xfrm>
          <a:prstGeom prst="rect">
            <a:avLst/>
          </a:prstGeom>
          <a:noFill/>
        </p:spPr>
        <p:txBody>
          <a:bodyPr wrap="square" anchor="t">
            <a:spAutoFit/>
          </a:bodyPr>
          <a:lstStyle/>
          <a:p>
            <a:pPr algn="l"/>
            <a:r>
              <a:rPr sz="890" b="0">
                <a:solidFill>
                  <a:srgbClr val="1F2631"/>
                </a:solidFill>
                <a:latin typeface="Aptos"/>
              </a:rPr>
              <a:t>Visual + live coaching vs text-only</a:t>
            </a:r>
          </a:p>
        </p:txBody>
      </p:sp>
      <p:sp>
        <p:nvSpPr>
          <p:cNvPr id="35" name="Rectangle 34"/>
          <p:cNvSpPr/>
          <p:nvPr/>
        </p:nvSpPr>
        <p:spPr>
          <a:xfrm>
            <a:off x="5623560" y="4206240"/>
            <a:ext cx="2651760" cy="502920"/>
          </a:xfrm>
          <a:prstGeom prst="rect">
            <a:avLst/>
          </a:prstGeom>
          <a:solidFill>
            <a:srgbClr val="FAFAF8"/>
          </a:solidFill>
          <a:ln w="6350">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687568" y="4279392"/>
            <a:ext cx="2523744" cy="347472"/>
          </a:xfrm>
          <a:prstGeom prst="rect">
            <a:avLst/>
          </a:prstGeom>
          <a:noFill/>
        </p:spPr>
        <p:txBody>
          <a:bodyPr wrap="square" anchor="t">
            <a:spAutoFit/>
          </a:bodyPr>
          <a:lstStyle/>
          <a:p>
            <a:pPr algn="l"/>
            <a:r>
              <a:rPr sz="890" b="0">
                <a:solidFill>
                  <a:srgbClr val="1F2631"/>
                </a:solidFill>
                <a:latin typeface="Aptos"/>
              </a:rPr>
              <a:t>Higher first-pass acceptance + completion</a:t>
            </a:r>
          </a:p>
        </p:txBody>
      </p:sp>
      <p:sp>
        <p:nvSpPr>
          <p:cNvPr id="37" name="Rectangle 36"/>
          <p:cNvSpPr/>
          <p:nvPr/>
        </p:nvSpPr>
        <p:spPr>
          <a:xfrm>
            <a:off x="8366760" y="4206240"/>
            <a:ext cx="3246120" cy="502920"/>
          </a:xfrm>
          <a:prstGeom prst="rect">
            <a:avLst/>
          </a:prstGeom>
          <a:solidFill>
            <a:srgbClr val="FAFAF8"/>
          </a:solidFill>
          <a:ln w="6350">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430768" y="4279392"/>
            <a:ext cx="3118103" cy="347472"/>
          </a:xfrm>
          <a:prstGeom prst="rect">
            <a:avLst/>
          </a:prstGeom>
          <a:noFill/>
        </p:spPr>
        <p:txBody>
          <a:bodyPr wrap="square" anchor="t">
            <a:spAutoFit/>
          </a:bodyPr>
          <a:lstStyle/>
          <a:p>
            <a:pPr algn="l"/>
            <a:r>
              <a:rPr sz="890" b="0">
                <a:solidFill>
                  <a:srgbClr val="1F2631"/>
                </a:solidFill>
                <a:latin typeface="Aptos"/>
              </a:rPr>
              <a:t>Ship if quality improves without added drop-off</a:t>
            </a:r>
          </a:p>
        </p:txBody>
      </p:sp>
      <p:sp>
        <p:nvSpPr>
          <p:cNvPr id="39" name="Rectangle 38"/>
          <p:cNvSpPr/>
          <p:nvPr/>
        </p:nvSpPr>
        <p:spPr>
          <a:xfrm>
            <a:off x="621792" y="4727448"/>
            <a:ext cx="1965960" cy="502920"/>
          </a:xfrm>
          <a:prstGeom prst="rect">
            <a:avLst/>
          </a:prstGeom>
          <a:solidFill>
            <a:srgbClr val="FFFFFF"/>
          </a:solidFill>
          <a:ln w="6350">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85800" y="4800600"/>
            <a:ext cx="1837943" cy="347472"/>
          </a:xfrm>
          <a:prstGeom prst="rect">
            <a:avLst/>
          </a:prstGeom>
          <a:noFill/>
        </p:spPr>
        <p:txBody>
          <a:bodyPr wrap="square" anchor="t">
            <a:spAutoFit/>
          </a:bodyPr>
          <a:lstStyle/>
          <a:p>
            <a:pPr algn="l"/>
            <a:r>
              <a:rPr sz="890" b="0">
                <a:solidFill>
                  <a:srgbClr val="1F2631"/>
                </a:solidFill>
                <a:latin typeface="Aptos"/>
              </a:rPr>
              <a:t>How much evidence is enough?</a:t>
            </a:r>
          </a:p>
        </p:txBody>
      </p:sp>
      <p:sp>
        <p:nvSpPr>
          <p:cNvPr id="41" name="Rectangle 40"/>
          <p:cNvSpPr/>
          <p:nvPr/>
        </p:nvSpPr>
        <p:spPr>
          <a:xfrm>
            <a:off x="2743200" y="4727448"/>
            <a:ext cx="2788920" cy="502920"/>
          </a:xfrm>
          <a:prstGeom prst="rect">
            <a:avLst/>
          </a:prstGeom>
          <a:solidFill>
            <a:srgbClr val="FFFFFF"/>
          </a:solidFill>
          <a:ln w="6350">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807208" y="4800600"/>
            <a:ext cx="2660903" cy="347472"/>
          </a:xfrm>
          <a:prstGeom prst="rect">
            <a:avLst/>
          </a:prstGeom>
          <a:noFill/>
        </p:spPr>
        <p:txBody>
          <a:bodyPr wrap="square" anchor="t">
            <a:spAutoFit/>
          </a:bodyPr>
          <a:lstStyle/>
          <a:p>
            <a:pPr algn="l"/>
            <a:r>
              <a:rPr sz="890" b="0">
                <a:solidFill>
                  <a:srgbClr val="1F2631"/>
                </a:solidFill>
                <a:latin typeface="Aptos"/>
              </a:rPr>
              <a:t>Fixed checklist vs adaptive minimum</a:t>
            </a:r>
          </a:p>
        </p:txBody>
      </p:sp>
      <p:sp>
        <p:nvSpPr>
          <p:cNvPr id="43" name="Rectangle 42"/>
          <p:cNvSpPr/>
          <p:nvPr/>
        </p:nvSpPr>
        <p:spPr>
          <a:xfrm>
            <a:off x="5623560" y="4727448"/>
            <a:ext cx="2651760" cy="502920"/>
          </a:xfrm>
          <a:prstGeom prst="rect">
            <a:avLst/>
          </a:prstGeom>
          <a:solidFill>
            <a:srgbClr val="FFFFFF"/>
          </a:solidFill>
          <a:ln w="6350">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687568" y="4800600"/>
            <a:ext cx="2523744" cy="347472"/>
          </a:xfrm>
          <a:prstGeom prst="rect">
            <a:avLst/>
          </a:prstGeom>
          <a:noFill/>
        </p:spPr>
        <p:txBody>
          <a:bodyPr wrap="square" anchor="t">
            <a:spAutoFit/>
          </a:bodyPr>
          <a:lstStyle/>
          <a:p>
            <a:pPr algn="l"/>
            <a:r>
              <a:rPr sz="890" b="0">
                <a:solidFill>
                  <a:srgbClr val="1F2631"/>
                </a:solidFill>
                <a:latin typeface="Aptos"/>
              </a:rPr>
              <a:t>Lower drop-off, similar confidence</a:t>
            </a:r>
          </a:p>
        </p:txBody>
      </p:sp>
      <p:sp>
        <p:nvSpPr>
          <p:cNvPr id="45" name="Rectangle 44"/>
          <p:cNvSpPr/>
          <p:nvPr/>
        </p:nvSpPr>
        <p:spPr>
          <a:xfrm>
            <a:off x="8366760" y="4727448"/>
            <a:ext cx="3246120" cy="502920"/>
          </a:xfrm>
          <a:prstGeom prst="rect">
            <a:avLst/>
          </a:prstGeom>
          <a:solidFill>
            <a:srgbClr val="FFFFFF"/>
          </a:solidFill>
          <a:ln w="6350">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430768" y="4800600"/>
            <a:ext cx="3118103" cy="347472"/>
          </a:xfrm>
          <a:prstGeom prst="rect">
            <a:avLst/>
          </a:prstGeom>
          <a:noFill/>
        </p:spPr>
        <p:txBody>
          <a:bodyPr wrap="square" anchor="t">
            <a:spAutoFit/>
          </a:bodyPr>
          <a:lstStyle/>
          <a:p>
            <a:pPr algn="l"/>
            <a:r>
              <a:rPr sz="890" b="0">
                <a:solidFill>
                  <a:srgbClr val="1F2631"/>
                </a:solidFill>
                <a:latin typeface="Aptos"/>
              </a:rPr>
              <a:t>Set the minimum evidence policy</a:t>
            </a:r>
          </a:p>
        </p:txBody>
      </p:sp>
      <p:sp>
        <p:nvSpPr>
          <p:cNvPr id="47" name="Rectangle 46"/>
          <p:cNvSpPr/>
          <p:nvPr/>
        </p:nvSpPr>
        <p:spPr>
          <a:xfrm>
            <a:off x="621792" y="5248656"/>
            <a:ext cx="1965960" cy="502920"/>
          </a:xfrm>
          <a:prstGeom prst="rect">
            <a:avLst/>
          </a:prstGeom>
          <a:solidFill>
            <a:srgbClr val="FAFAF8"/>
          </a:solidFill>
          <a:ln w="6350">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85800" y="5321808"/>
            <a:ext cx="1837943" cy="347472"/>
          </a:xfrm>
          <a:prstGeom prst="rect">
            <a:avLst/>
          </a:prstGeom>
          <a:noFill/>
        </p:spPr>
        <p:txBody>
          <a:bodyPr wrap="square" anchor="t">
            <a:spAutoFit/>
          </a:bodyPr>
          <a:lstStyle/>
          <a:p>
            <a:pPr algn="l"/>
            <a:r>
              <a:rPr sz="890" b="0">
                <a:solidFill>
                  <a:srgbClr val="1F2631"/>
                </a:solidFill>
                <a:latin typeface="Aptos"/>
              </a:rPr>
              <a:t>Does recovery matter?</a:t>
            </a:r>
          </a:p>
        </p:txBody>
      </p:sp>
      <p:sp>
        <p:nvSpPr>
          <p:cNvPr id="49" name="Rectangle 48"/>
          <p:cNvSpPr/>
          <p:nvPr/>
        </p:nvSpPr>
        <p:spPr>
          <a:xfrm>
            <a:off x="2743200" y="5248656"/>
            <a:ext cx="2788920" cy="502920"/>
          </a:xfrm>
          <a:prstGeom prst="rect">
            <a:avLst/>
          </a:prstGeom>
          <a:solidFill>
            <a:srgbClr val="FAFAF8"/>
          </a:solidFill>
          <a:ln w="6350">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807208" y="5321808"/>
            <a:ext cx="2660903" cy="347472"/>
          </a:xfrm>
          <a:prstGeom prst="rect">
            <a:avLst/>
          </a:prstGeom>
          <a:noFill/>
        </p:spPr>
        <p:txBody>
          <a:bodyPr wrap="square" anchor="t">
            <a:spAutoFit/>
          </a:bodyPr>
          <a:lstStyle/>
          <a:p>
            <a:pPr algn="l"/>
            <a:r>
              <a:rPr sz="890" b="0">
                <a:solidFill>
                  <a:srgbClr val="1F2631"/>
                </a:solidFill>
                <a:latin typeface="Aptos"/>
              </a:rPr>
              <a:t>Restart vs resume</a:t>
            </a:r>
          </a:p>
        </p:txBody>
      </p:sp>
      <p:sp>
        <p:nvSpPr>
          <p:cNvPr id="51" name="Rectangle 50"/>
          <p:cNvSpPr/>
          <p:nvPr/>
        </p:nvSpPr>
        <p:spPr>
          <a:xfrm>
            <a:off x="5623560" y="5248656"/>
            <a:ext cx="2651760" cy="502920"/>
          </a:xfrm>
          <a:prstGeom prst="rect">
            <a:avLst/>
          </a:prstGeom>
          <a:solidFill>
            <a:srgbClr val="FAFAF8"/>
          </a:solidFill>
          <a:ln w="6350">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687568" y="5321808"/>
            <a:ext cx="2523744" cy="347472"/>
          </a:xfrm>
          <a:prstGeom prst="rect">
            <a:avLst/>
          </a:prstGeom>
          <a:noFill/>
        </p:spPr>
        <p:txBody>
          <a:bodyPr wrap="square" anchor="t">
            <a:spAutoFit/>
          </a:bodyPr>
          <a:lstStyle/>
          <a:p>
            <a:pPr algn="l"/>
            <a:r>
              <a:rPr sz="890" b="0">
                <a:solidFill>
                  <a:srgbClr val="1F2631"/>
                </a:solidFill>
                <a:latin typeface="Aptos"/>
              </a:rPr>
              <a:t>Lower abandonment after interruption</a:t>
            </a:r>
          </a:p>
        </p:txBody>
      </p:sp>
      <p:sp>
        <p:nvSpPr>
          <p:cNvPr id="53" name="Rectangle 52"/>
          <p:cNvSpPr/>
          <p:nvPr/>
        </p:nvSpPr>
        <p:spPr>
          <a:xfrm>
            <a:off x="8366760" y="5248656"/>
            <a:ext cx="3246120" cy="502920"/>
          </a:xfrm>
          <a:prstGeom prst="rect">
            <a:avLst/>
          </a:prstGeom>
          <a:solidFill>
            <a:srgbClr val="FAFAF8"/>
          </a:solidFill>
          <a:ln w="6350">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430768" y="5321808"/>
            <a:ext cx="3118103" cy="347472"/>
          </a:xfrm>
          <a:prstGeom prst="rect">
            <a:avLst/>
          </a:prstGeom>
          <a:noFill/>
        </p:spPr>
        <p:txBody>
          <a:bodyPr wrap="square" anchor="t">
            <a:spAutoFit/>
          </a:bodyPr>
          <a:lstStyle/>
          <a:p>
            <a:pPr algn="l"/>
            <a:r>
              <a:rPr sz="890" b="0">
                <a:solidFill>
                  <a:srgbClr val="1F2631"/>
                </a:solidFill>
                <a:latin typeface="Aptos"/>
              </a:rPr>
              <a:t>Make resume default</a:t>
            </a:r>
          </a:p>
        </p:txBody>
      </p:sp>
      <p:sp>
        <p:nvSpPr>
          <p:cNvPr id="55" name="Rectangle 54"/>
          <p:cNvSpPr/>
          <p:nvPr/>
        </p:nvSpPr>
        <p:spPr>
          <a:xfrm>
            <a:off x="621792" y="5769864"/>
            <a:ext cx="1965960" cy="502920"/>
          </a:xfrm>
          <a:prstGeom prst="rect">
            <a:avLst/>
          </a:prstGeom>
          <a:solidFill>
            <a:srgbClr val="FFFFFF"/>
          </a:solidFill>
          <a:ln w="6350">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85800" y="5843016"/>
            <a:ext cx="1837943" cy="347472"/>
          </a:xfrm>
          <a:prstGeom prst="rect">
            <a:avLst/>
          </a:prstGeom>
          <a:noFill/>
        </p:spPr>
        <p:txBody>
          <a:bodyPr wrap="square" anchor="t">
            <a:spAutoFit/>
          </a:bodyPr>
          <a:lstStyle/>
          <a:p>
            <a:pPr algn="l"/>
            <a:r>
              <a:rPr sz="890" b="0">
                <a:solidFill>
                  <a:srgbClr val="1F2631"/>
                </a:solidFill>
                <a:latin typeface="Aptos"/>
              </a:rPr>
              <a:t>Does privacy affect completion?</a:t>
            </a:r>
          </a:p>
        </p:txBody>
      </p:sp>
      <p:sp>
        <p:nvSpPr>
          <p:cNvPr id="57" name="Rectangle 56"/>
          <p:cNvSpPr/>
          <p:nvPr/>
        </p:nvSpPr>
        <p:spPr>
          <a:xfrm>
            <a:off x="2743200" y="5769864"/>
            <a:ext cx="2788920" cy="502920"/>
          </a:xfrm>
          <a:prstGeom prst="rect">
            <a:avLst/>
          </a:prstGeom>
          <a:solidFill>
            <a:srgbClr val="FFFFFF"/>
          </a:solidFill>
          <a:ln w="6350">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807208" y="5843016"/>
            <a:ext cx="2660903" cy="347472"/>
          </a:xfrm>
          <a:prstGeom prst="rect">
            <a:avLst/>
          </a:prstGeom>
          <a:noFill/>
        </p:spPr>
        <p:txBody>
          <a:bodyPr wrap="square" anchor="t">
            <a:spAutoFit/>
          </a:bodyPr>
          <a:lstStyle/>
          <a:p>
            <a:pPr algn="l"/>
            <a:r>
              <a:rPr sz="890" b="0">
                <a:solidFill>
                  <a:srgbClr val="1F2631"/>
                </a:solidFill>
                <a:latin typeface="Aptos"/>
              </a:rPr>
              <a:t>Broad interior vs purpose-limited</a:t>
            </a:r>
          </a:p>
        </p:txBody>
      </p:sp>
      <p:sp>
        <p:nvSpPr>
          <p:cNvPr id="59" name="Rectangle 58"/>
          <p:cNvSpPr/>
          <p:nvPr/>
        </p:nvSpPr>
        <p:spPr>
          <a:xfrm>
            <a:off x="5623560" y="5769864"/>
            <a:ext cx="2651760" cy="502920"/>
          </a:xfrm>
          <a:prstGeom prst="rect">
            <a:avLst/>
          </a:prstGeom>
          <a:solidFill>
            <a:srgbClr val="FFFFFF"/>
          </a:solidFill>
          <a:ln w="6350">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687568" y="5843016"/>
            <a:ext cx="2523744" cy="347472"/>
          </a:xfrm>
          <a:prstGeom prst="rect">
            <a:avLst/>
          </a:prstGeom>
          <a:noFill/>
        </p:spPr>
        <p:txBody>
          <a:bodyPr wrap="square" anchor="t">
            <a:spAutoFit/>
          </a:bodyPr>
          <a:lstStyle/>
          <a:p>
            <a:pPr algn="l"/>
            <a:r>
              <a:rPr sz="890" b="0">
                <a:solidFill>
                  <a:srgbClr val="1F2631"/>
                </a:solidFill>
                <a:latin typeface="Aptos"/>
              </a:rPr>
              <a:t>Similar confidence + better completion</a:t>
            </a:r>
          </a:p>
        </p:txBody>
      </p:sp>
      <p:sp>
        <p:nvSpPr>
          <p:cNvPr id="61" name="Rectangle 60"/>
          <p:cNvSpPr/>
          <p:nvPr/>
        </p:nvSpPr>
        <p:spPr>
          <a:xfrm>
            <a:off x="8366760" y="5769864"/>
            <a:ext cx="3246120" cy="502920"/>
          </a:xfrm>
          <a:prstGeom prst="rect">
            <a:avLst/>
          </a:prstGeom>
          <a:solidFill>
            <a:srgbClr val="FFFFFF"/>
          </a:solidFill>
          <a:ln w="6350">
            <a:solidFill>
              <a:srgbClr val="DA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430768" y="5843016"/>
            <a:ext cx="3118103" cy="347472"/>
          </a:xfrm>
          <a:prstGeom prst="rect">
            <a:avLst/>
          </a:prstGeom>
          <a:noFill/>
        </p:spPr>
        <p:txBody>
          <a:bodyPr wrap="square" anchor="t">
            <a:spAutoFit/>
          </a:bodyPr>
          <a:lstStyle/>
          <a:p>
            <a:pPr algn="l"/>
            <a:r>
              <a:rPr sz="890" b="0">
                <a:solidFill>
                  <a:srgbClr val="1F2631"/>
                </a:solidFill>
                <a:latin typeface="Aptos"/>
              </a:rPr>
              <a:t>Remove unnecessary capture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127</TotalTime>
  <Words>1168</Words>
  <Application>Microsoft Office PowerPoint</Application>
  <PresentationFormat>Widescreen</PresentationFormat>
  <Paragraphs>168</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Arial Narrow</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Suhani Patel</cp:lastModifiedBy>
  <cp:revision>3</cp:revision>
  <dcterms:created xsi:type="dcterms:W3CDTF">2013-01-27T09:14:16Z</dcterms:created>
  <dcterms:modified xsi:type="dcterms:W3CDTF">2026-09-07T12:50:33Z</dcterms:modified>
  <cp:category/>
</cp:coreProperties>
</file>